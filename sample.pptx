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erverZoom="100000" strictFirstAndLastChars="0" saveSubsetFonts="1">
  <p:sldMasterIdLst>
    <p:sldMasterId id="2147483649" r:id="rId1"/>
  </p:sldMasterIdLst>
  <p:notesMasterIdLst>
    <p:notesMasterId r:id="rId13"/>
  </p:notesMasterIdLst>
  <p:sldIdLst>
    <p:sldId id="256" r:id="rId2"/>
    <p:sldId id="258" r:id="rId3"/>
    <p:sldId id="268" r:id="rId4"/>
    <p:sldId id="270" r:id="rId5"/>
    <p:sldId id="259" r:id="rId6"/>
    <p:sldId id="260" r:id="rId7"/>
    <p:sldId id="262" r:id="rId8"/>
    <p:sldId id="263" r:id="rId9"/>
    <p:sldId id="264" r:id="rId10"/>
    <p:sldId id="266" r:id="rId11"/>
    <p:sldId id="267" r:id="rId12"/>
  </p:sldIdLst>
  <p:sldSz cx="12192000" cy="6858000"/>
  <p:notesSz cx="7315200" cy="12344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rgbClr val="595959"/>
        </a:solidFill>
        <a:latin typeface="Arial" panose="020B0604020202020204" pitchFamily="34" charset="0"/>
        <a:ea typeface="Arial Bold" panose="020B0704020202020204" pitchFamily="34" charset="0"/>
        <a:cs typeface="Arial Bold" panose="020B0704020202020204" pitchFamily="34" charset="0"/>
        <a:sym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rgbClr val="595959"/>
        </a:solidFill>
        <a:latin typeface="Arial" panose="020B0604020202020204" pitchFamily="34" charset="0"/>
        <a:ea typeface="Arial Bold" panose="020B0704020202020204" pitchFamily="34" charset="0"/>
        <a:cs typeface="Arial Bold" panose="020B0704020202020204" pitchFamily="34" charset="0"/>
        <a:sym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rgbClr val="595959"/>
        </a:solidFill>
        <a:latin typeface="Arial" panose="020B0604020202020204" pitchFamily="34" charset="0"/>
        <a:ea typeface="Arial Bold" panose="020B0704020202020204" pitchFamily="34" charset="0"/>
        <a:cs typeface="Arial Bold" panose="020B0704020202020204" pitchFamily="34" charset="0"/>
        <a:sym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rgbClr val="595959"/>
        </a:solidFill>
        <a:latin typeface="Arial" panose="020B0604020202020204" pitchFamily="34" charset="0"/>
        <a:ea typeface="Arial Bold" panose="020B0704020202020204" pitchFamily="34" charset="0"/>
        <a:cs typeface="Arial Bold" panose="020B0704020202020204" pitchFamily="34" charset="0"/>
        <a:sym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rgbClr val="595959"/>
        </a:solidFill>
        <a:latin typeface="Arial" panose="020B0604020202020204" pitchFamily="34" charset="0"/>
        <a:ea typeface="Arial Bold" panose="020B0704020202020204" pitchFamily="34" charset="0"/>
        <a:cs typeface="Arial Bold" panose="020B0704020202020204" pitchFamily="34" charset="0"/>
        <a:sym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rgbClr val="595959"/>
        </a:solidFill>
        <a:latin typeface="Arial" panose="020B0604020202020204" pitchFamily="34" charset="0"/>
        <a:ea typeface="Arial Bold" panose="020B0704020202020204" pitchFamily="34" charset="0"/>
        <a:cs typeface="Arial Bold" panose="020B0704020202020204" pitchFamily="34" charset="0"/>
        <a:sym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rgbClr val="595959"/>
        </a:solidFill>
        <a:latin typeface="Arial" panose="020B0604020202020204" pitchFamily="34" charset="0"/>
        <a:ea typeface="Arial Bold" panose="020B0704020202020204" pitchFamily="34" charset="0"/>
        <a:cs typeface="Arial Bold" panose="020B0704020202020204" pitchFamily="34" charset="0"/>
        <a:sym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rgbClr val="595959"/>
        </a:solidFill>
        <a:latin typeface="Arial" panose="020B0604020202020204" pitchFamily="34" charset="0"/>
        <a:ea typeface="Arial Bold" panose="020B0704020202020204" pitchFamily="34" charset="0"/>
        <a:cs typeface="Arial Bold" panose="020B0704020202020204" pitchFamily="34" charset="0"/>
        <a:sym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rgbClr val="595959"/>
        </a:solidFill>
        <a:latin typeface="Arial" panose="020B0604020202020204" pitchFamily="34" charset="0"/>
        <a:ea typeface="Arial Bold" panose="020B0704020202020204" pitchFamily="34" charset="0"/>
        <a:cs typeface="Arial Bold" panose="020B0704020202020204" pitchFamily="34" charset="0"/>
        <a:sym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00"/>
    <a:srgbClr val="003366"/>
    <a:srgbClr val="000066"/>
    <a:srgbClr val="74833D"/>
    <a:srgbClr val="CCFFCC"/>
    <a:srgbClr val="AC59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77" autoAdjust="0"/>
    <p:restoredTop sz="95172" autoAdjust="0"/>
  </p:normalViewPr>
  <p:slideViewPr>
    <p:cSldViewPr>
      <p:cViewPr varScale="1">
        <p:scale>
          <a:sx n="109" d="100"/>
          <a:sy n="109" d="100"/>
        </p:scale>
        <p:origin x="696" y="10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-457200" y="927100"/>
            <a:ext cx="8229600" cy="462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</p:sp>
      <p:sp>
        <p:nvSpPr>
          <p:cNvPr id="2" name="Rectangle 2"/>
          <p:cNvSpPr>
            <a:spLocks noGrp="1"/>
          </p:cNvSpPr>
          <p:nvPr>
            <p:ph type="body" sz="quarter" idx="1"/>
          </p:nvPr>
        </p:nvSpPr>
        <p:spPr bwMode="auto">
          <a:xfrm>
            <a:off x="974725" y="5864225"/>
            <a:ext cx="5365750" cy="5554663"/>
          </a:xfrm>
          <a:prstGeom prst="rect">
            <a:avLst/>
          </a:prstGeom>
          <a:noFill/>
          <a:ln w="9525" cap="flat" cmpd="sng">
            <a:noFill/>
            <a:prstDash val="solid"/>
            <a:bevel/>
            <a:headEnd type="none" w="med" len="med"/>
            <a:tailEnd type="none" w="med" len="med"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>
                <a:sym typeface="Avenir Roman" charset="0"/>
              </a:rPr>
              <a:t>Click to edit Master text styles</a:t>
            </a:r>
          </a:p>
          <a:p>
            <a:pPr lvl="1"/>
            <a:r>
              <a:rPr lang="en-US" noProof="0" smtClean="0">
                <a:sym typeface="Avenir Roman" charset="0"/>
              </a:rPr>
              <a:t>Second level</a:t>
            </a:r>
          </a:p>
          <a:p>
            <a:pPr lvl="2"/>
            <a:r>
              <a:rPr lang="en-US" noProof="0" smtClean="0">
                <a:sym typeface="Avenir Roman" charset="0"/>
              </a:rPr>
              <a:t>Third level</a:t>
            </a:r>
          </a:p>
          <a:p>
            <a:pPr lvl="3"/>
            <a:r>
              <a:rPr lang="en-US" noProof="0" smtClean="0">
                <a:sym typeface="Avenir Roman" charset="0"/>
              </a:rPr>
              <a:t>Fourth level</a:t>
            </a:r>
          </a:p>
          <a:p>
            <a:pPr lvl="4"/>
            <a:r>
              <a:rPr lang="en-US" noProof="0" smtClean="0">
                <a:sym typeface="Avenir Roman" charset="0"/>
              </a:rP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lnSpc>
        <a:spcPct val="125000"/>
      </a:lnSpc>
      <a:spcBef>
        <a:spcPct val="0"/>
      </a:spcBef>
      <a:spcAft>
        <a:spcPct val="0"/>
      </a:spcAft>
      <a:defRPr sz="2400" kern="1200">
        <a:solidFill>
          <a:srgbClr val="000000"/>
        </a:solidFill>
        <a:latin typeface="Avenir Roman" charset="0"/>
        <a:ea typeface="Avenir Roman" charset="0"/>
        <a:cs typeface="Avenir Roman" charset="0"/>
        <a:sym typeface="Avenir Roman"/>
      </a:defRPr>
    </a:lvl1pPr>
    <a:lvl2pPr indent="228600" algn="l" defTabSz="457200" rtl="0" eaLnBrk="0" fontAlgn="base" hangingPunct="0">
      <a:lnSpc>
        <a:spcPct val="125000"/>
      </a:lnSpc>
      <a:spcBef>
        <a:spcPct val="0"/>
      </a:spcBef>
      <a:spcAft>
        <a:spcPct val="0"/>
      </a:spcAft>
      <a:defRPr sz="2400" kern="1200">
        <a:solidFill>
          <a:srgbClr val="000000"/>
        </a:solidFill>
        <a:latin typeface="Avenir Roman" charset="0"/>
        <a:ea typeface="Avenir Roman" charset="0"/>
        <a:cs typeface="Avenir Roman" charset="0"/>
        <a:sym typeface="Avenir Roman"/>
      </a:defRPr>
    </a:lvl2pPr>
    <a:lvl3pPr indent="457200" algn="l" defTabSz="457200" rtl="0" eaLnBrk="0" fontAlgn="base" hangingPunct="0">
      <a:lnSpc>
        <a:spcPct val="125000"/>
      </a:lnSpc>
      <a:spcBef>
        <a:spcPct val="0"/>
      </a:spcBef>
      <a:spcAft>
        <a:spcPct val="0"/>
      </a:spcAft>
      <a:defRPr sz="2400" kern="1200">
        <a:solidFill>
          <a:srgbClr val="000000"/>
        </a:solidFill>
        <a:latin typeface="Avenir Roman" charset="0"/>
        <a:ea typeface="Avenir Roman" charset="0"/>
        <a:cs typeface="Avenir Roman" charset="0"/>
        <a:sym typeface="Avenir Roman"/>
      </a:defRPr>
    </a:lvl3pPr>
    <a:lvl4pPr indent="685800" algn="l" defTabSz="457200" rtl="0" eaLnBrk="0" fontAlgn="base" hangingPunct="0">
      <a:lnSpc>
        <a:spcPct val="125000"/>
      </a:lnSpc>
      <a:spcBef>
        <a:spcPct val="0"/>
      </a:spcBef>
      <a:spcAft>
        <a:spcPct val="0"/>
      </a:spcAft>
      <a:defRPr sz="2400" kern="1200">
        <a:solidFill>
          <a:srgbClr val="000000"/>
        </a:solidFill>
        <a:latin typeface="Avenir Roman" charset="0"/>
        <a:ea typeface="Avenir Roman" charset="0"/>
        <a:cs typeface="Avenir Roman" charset="0"/>
        <a:sym typeface="Avenir Roman"/>
      </a:defRPr>
    </a:lvl4pPr>
    <a:lvl5pPr indent="914400" algn="l" defTabSz="457200" rtl="0" eaLnBrk="0" fontAlgn="base" hangingPunct="0">
      <a:lnSpc>
        <a:spcPct val="125000"/>
      </a:lnSpc>
      <a:spcBef>
        <a:spcPct val="0"/>
      </a:spcBef>
      <a:spcAft>
        <a:spcPct val="0"/>
      </a:spcAft>
      <a:defRPr sz="2400" kern="1200">
        <a:solidFill>
          <a:srgbClr val="000000"/>
        </a:solidFill>
        <a:latin typeface="Avenir Roman" charset="0"/>
        <a:ea typeface="Avenir Roman" charset="0"/>
        <a:cs typeface="Avenir Roman" charset="0"/>
        <a:sym typeface="Avenir Roman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93302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8E21C8-F73C-4889-BFBB-E5CFB78CA2B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62630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MWI New Logo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87150" y="12700"/>
            <a:ext cx="704850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51BB89-F5E3-49CB-92BD-F686FE34005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1180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FEACB1-43C9-4F63-B513-92CC97540DD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40860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241CCF-24C1-4F38-B4D4-51CA5074C32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4694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838AAA-3B3F-4A58-9EE6-2F390BDCD15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48869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2E36C1-A453-4C81-9867-A5264BD9C70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05623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25C067-6B96-4670-A87D-E6C07B072A7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27852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E9F573-C16C-4830-BCD2-F5D643D1580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07499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>
              <a:sym typeface="Arial Bold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E74BC1-5A57-4C78-9AB1-46BB35E2676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72096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31B16D-59B0-4409-988B-8D78CAADC85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75763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462300-27C7-4471-9B9E-C1BEAA89177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80210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>
            <a:alpha val="50195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1"/>
          <p:cNvSpPr>
            <a:spLocks/>
          </p:cNvSpPr>
          <p:nvPr/>
        </p:nvSpPr>
        <p:spPr bwMode="auto">
          <a:xfrm>
            <a:off x="0" y="2825750"/>
            <a:ext cx="12188825" cy="3179763"/>
          </a:xfrm>
          <a:prstGeom prst="rect">
            <a:avLst/>
          </a:prstGeom>
          <a:solidFill>
            <a:srgbClr val="FFFFFF">
              <a:alpha val="7490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rgbClr val="595959"/>
                </a:solidFill>
                <a:latin typeface="Arial" panose="020B0604020202020204" pitchFamily="34" charset="0"/>
                <a:ea typeface="Arial Bold" panose="020B0704020202020204" pitchFamily="34" charset="0"/>
                <a:cs typeface="Arial Bold" panose="020B0704020202020204" pitchFamily="34" charset="0"/>
                <a:sym typeface="Arial" panose="020B0604020202020204" pitchFamily="34" charset="0"/>
              </a:defRPr>
            </a:lvl1pPr>
            <a:lvl2pPr marL="742950" indent="-285750">
              <a:defRPr>
                <a:solidFill>
                  <a:srgbClr val="595959"/>
                </a:solidFill>
                <a:latin typeface="Arial" panose="020B0604020202020204" pitchFamily="34" charset="0"/>
                <a:ea typeface="Arial Bold" panose="020B0704020202020204" pitchFamily="34" charset="0"/>
                <a:cs typeface="Arial Bold" panose="020B07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95959"/>
                </a:solidFill>
                <a:latin typeface="Arial" panose="020B0604020202020204" pitchFamily="34" charset="0"/>
                <a:ea typeface="Arial Bold" panose="020B0704020202020204" pitchFamily="34" charset="0"/>
                <a:cs typeface="Arial Bold" panose="020B07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95959"/>
                </a:solidFill>
                <a:latin typeface="Arial" panose="020B0604020202020204" pitchFamily="34" charset="0"/>
                <a:ea typeface="Arial Bold" panose="020B0704020202020204" pitchFamily="34" charset="0"/>
                <a:cs typeface="Arial Bold" panose="020B07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95959"/>
                </a:solidFill>
                <a:latin typeface="Arial" panose="020B0604020202020204" pitchFamily="34" charset="0"/>
                <a:ea typeface="Arial Bold" panose="020B0704020202020204" pitchFamily="34" charset="0"/>
                <a:cs typeface="Arial Bold" panose="020B07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95959"/>
                </a:solidFill>
                <a:latin typeface="Arial" panose="020B0604020202020204" pitchFamily="34" charset="0"/>
                <a:ea typeface="Arial Bold" panose="020B0704020202020204" pitchFamily="34" charset="0"/>
                <a:cs typeface="Arial Bold" panose="020B07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95959"/>
                </a:solidFill>
                <a:latin typeface="Arial" panose="020B0604020202020204" pitchFamily="34" charset="0"/>
                <a:ea typeface="Arial Bold" panose="020B0704020202020204" pitchFamily="34" charset="0"/>
                <a:cs typeface="Arial Bold" panose="020B07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95959"/>
                </a:solidFill>
                <a:latin typeface="Arial" panose="020B0604020202020204" pitchFamily="34" charset="0"/>
                <a:ea typeface="Arial Bold" panose="020B0704020202020204" pitchFamily="34" charset="0"/>
                <a:cs typeface="Arial Bold" panose="020B07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95959"/>
                </a:solidFill>
                <a:latin typeface="Arial" panose="020B0604020202020204" pitchFamily="34" charset="0"/>
                <a:ea typeface="Arial Bold" panose="020B0704020202020204" pitchFamily="34" charset="0"/>
                <a:cs typeface="Arial Bold" panose="020B07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>
              <a:defRPr/>
            </a:pPr>
            <a:endParaRPr lang="en-US" altLang="en-US" smtClean="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2051" name="Rectangle 2"/>
          <p:cNvSpPr>
            <a:spLocks/>
          </p:cNvSpPr>
          <p:nvPr/>
        </p:nvSpPr>
        <p:spPr bwMode="auto">
          <a:xfrm>
            <a:off x="0" y="3074988"/>
            <a:ext cx="12188825" cy="264001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rgbClr val="595959"/>
                </a:solidFill>
                <a:latin typeface="Arial" panose="020B0604020202020204" pitchFamily="34" charset="0"/>
                <a:ea typeface="Arial Bold" panose="020B0704020202020204" pitchFamily="34" charset="0"/>
                <a:cs typeface="Arial Bold" panose="020B0704020202020204" pitchFamily="34" charset="0"/>
                <a:sym typeface="Arial" panose="020B0604020202020204" pitchFamily="34" charset="0"/>
              </a:defRPr>
            </a:lvl1pPr>
            <a:lvl2pPr marL="742950" indent="-285750">
              <a:defRPr>
                <a:solidFill>
                  <a:srgbClr val="595959"/>
                </a:solidFill>
                <a:latin typeface="Arial" panose="020B0604020202020204" pitchFamily="34" charset="0"/>
                <a:ea typeface="Arial Bold" panose="020B0704020202020204" pitchFamily="34" charset="0"/>
                <a:cs typeface="Arial Bold" panose="020B07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95959"/>
                </a:solidFill>
                <a:latin typeface="Arial" panose="020B0604020202020204" pitchFamily="34" charset="0"/>
                <a:ea typeface="Arial Bold" panose="020B0704020202020204" pitchFamily="34" charset="0"/>
                <a:cs typeface="Arial Bold" panose="020B07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95959"/>
                </a:solidFill>
                <a:latin typeface="Arial" panose="020B0604020202020204" pitchFamily="34" charset="0"/>
                <a:ea typeface="Arial Bold" panose="020B0704020202020204" pitchFamily="34" charset="0"/>
                <a:cs typeface="Arial Bold" panose="020B07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95959"/>
                </a:solidFill>
                <a:latin typeface="Arial" panose="020B0604020202020204" pitchFamily="34" charset="0"/>
                <a:ea typeface="Arial Bold" panose="020B0704020202020204" pitchFamily="34" charset="0"/>
                <a:cs typeface="Arial Bold" panose="020B07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95959"/>
                </a:solidFill>
                <a:latin typeface="Arial" panose="020B0604020202020204" pitchFamily="34" charset="0"/>
                <a:ea typeface="Arial Bold" panose="020B0704020202020204" pitchFamily="34" charset="0"/>
                <a:cs typeface="Arial Bold" panose="020B07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95959"/>
                </a:solidFill>
                <a:latin typeface="Arial" panose="020B0604020202020204" pitchFamily="34" charset="0"/>
                <a:ea typeface="Arial Bold" panose="020B0704020202020204" pitchFamily="34" charset="0"/>
                <a:cs typeface="Arial Bold" panose="020B07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95959"/>
                </a:solidFill>
                <a:latin typeface="Arial" panose="020B0604020202020204" pitchFamily="34" charset="0"/>
                <a:ea typeface="Arial Bold" panose="020B0704020202020204" pitchFamily="34" charset="0"/>
                <a:cs typeface="Arial Bold" panose="020B07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95959"/>
                </a:solidFill>
                <a:latin typeface="Arial" panose="020B0604020202020204" pitchFamily="34" charset="0"/>
                <a:ea typeface="Arial Bold" panose="020B0704020202020204" pitchFamily="34" charset="0"/>
                <a:cs typeface="Arial Bold" panose="020B07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>
              <a:defRPr/>
            </a:pPr>
            <a:endParaRPr lang="en-US" altLang="en-US" smtClean="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pic>
        <p:nvPicPr>
          <p:cNvPr id="2052" name="Picture 3" descr="C:\Users\Nikitesh\Desktop\triangle.png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1428"/>
          <a:stretch>
            <a:fillRect/>
          </a:stretch>
        </p:blipFill>
        <p:spPr bwMode="auto">
          <a:xfrm>
            <a:off x="10515600" y="1800225"/>
            <a:ext cx="1676400" cy="5068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</p:pic>
      <p:sp>
        <p:nvSpPr>
          <p:cNvPr id="2" name="Rectangle 4"/>
          <p:cNvSpPr>
            <a:spLocks noGrp="1"/>
          </p:cNvSpPr>
          <p:nvPr>
            <p:ph type="sldNum" sz="quarter" idx="2"/>
          </p:nvPr>
        </p:nvSpPr>
        <p:spPr bwMode="auto">
          <a:xfrm>
            <a:off x="11506200" y="6364288"/>
            <a:ext cx="706438" cy="349250"/>
          </a:xfrm>
          <a:prstGeom prst="rect">
            <a:avLst/>
          </a:prstGeom>
          <a:noFill/>
          <a:ln w="12700" cap="flat" cmpd="sng">
            <a:noFill/>
            <a:prstDash val="solid"/>
            <a:miter lim="0"/>
            <a:headEnd type="none" w="med" len="med"/>
            <a:tailEnd type="none" w="med" len="med"/>
          </a:ln>
          <a:effectLst/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>
            <a:lvl1pPr eaLnBrk="1">
              <a:defRPr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16353D6C-9529-4709-BC81-DE4D714519D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1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70C0"/>
          </a:solidFill>
          <a:latin typeface="+mj-lt"/>
          <a:ea typeface="+mj-ea"/>
          <a:cs typeface="+mj-cs"/>
          <a:sym typeface="Arial Black" panose="020B0A040201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70C0"/>
          </a:solidFill>
          <a:latin typeface="Arial Black" pitchFamily="34" charset="0"/>
          <a:ea typeface="Arial Black" pitchFamily="34" charset="0"/>
          <a:cs typeface="Arial Black" pitchFamily="34" charset="0"/>
          <a:sym typeface="Arial Black" panose="020B0A040201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70C0"/>
          </a:solidFill>
          <a:latin typeface="Arial Black" pitchFamily="34" charset="0"/>
          <a:ea typeface="Arial Black" pitchFamily="34" charset="0"/>
          <a:cs typeface="Arial Black" pitchFamily="34" charset="0"/>
          <a:sym typeface="Arial Black" panose="020B0A040201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70C0"/>
          </a:solidFill>
          <a:latin typeface="Arial Black" pitchFamily="34" charset="0"/>
          <a:ea typeface="Arial Black" pitchFamily="34" charset="0"/>
          <a:cs typeface="Arial Black" pitchFamily="34" charset="0"/>
          <a:sym typeface="Arial Black" panose="020B0A040201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70C0"/>
          </a:solidFill>
          <a:latin typeface="Arial Black" pitchFamily="34" charset="0"/>
          <a:ea typeface="Arial Black" pitchFamily="34" charset="0"/>
          <a:cs typeface="Arial Black" pitchFamily="34" charset="0"/>
          <a:sym typeface="Arial Black" panose="020B0A04020102020204" pitchFamily="34" charset="0"/>
        </a:defRPr>
      </a:lvl5pPr>
      <a:lvl6pPr marL="457200" algn="l" rtl="0" fontAlgn="base" hangingPunct="0">
        <a:spcBef>
          <a:spcPct val="0"/>
        </a:spcBef>
        <a:spcAft>
          <a:spcPct val="0"/>
        </a:spcAft>
        <a:defRPr sz="3600" b="1">
          <a:solidFill>
            <a:srgbClr val="0070C0"/>
          </a:solidFill>
          <a:latin typeface="Arial Black" pitchFamily="34" charset="0"/>
          <a:ea typeface="Arial Black" pitchFamily="34" charset="0"/>
          <a:cs typeface="Arial Black" pitchFamily="34" charset="0"/>
          <a:sym typeface="Arial Black" pitchFamily="34" charset="0"/>
        </a:defRPr>
      </a:lvl6pPr>
      <a:lvl7pPr marL="914400" algn="l" rtl="0" fontAlgn="base" hangingPunct="0">
        <a:spcBef>
          <a:spcPct val="0"/>
        </a:spcBef>
        <a:spcAft>
          <a:spcPct val="0"/>
        </a:spcAft>
        <a:defRPr sz="3600" b="1">
          <a:solidFill>
            <a:srgbClr val="0070C0"/>
          </a:solidFill>
          <a:latin typeface="Arial Black" pitchFamily="34" charset="0"/>
          <a:ea typeface="Arial Black" pitchFamily="34" charset="0"/>
          <a:cs typeface="Arial Black" pitchFamily="34" charset="0"/>
          <a:sym typeface="Arial Black" pitchFamily="34" charset="0"/>
        </a:defRPr>
      </a:lvl7pPr>
      <a:lvl8pPr marL="1371600" algn="l" rtl="0" fontAlgn="base" hangingPunct="0">
        <a:spcBef>
          <a:spcPct val="0"/>
        </a:spcBef>
        <a:spcAft>
          <a:spcPct val="0"/>
        </a:spcAft>
        <a:defRPr sz="3600" b="1">
          <a:solidFill>
            <a:srgbClr val="0070C0"/>
          </a:solidFill>
          <a:latin typeface="Arial Black" pitchFamily="34" charset="0"/>
          <a:ea typeface="Arial Black" pitchFamily="34" charset="0"/>
          <a:cs typeface="Arial Black" pitchFamily="34" charset="0"/>
          <a:sym typeface="Arial Black" pitchFamily="34" charset="0"/>
        </a:defRPr>
      </a:lvl8pPr>
      <a:lvl9pPr marL="1828800" algn="l" rtl="0" fontAlgn="base" hangingPunct="0">
        <a:spcBef>
          <a:spcPct val="0"/>
        </a:spcBef>
        <a:spcAft>
          <a:spcPct val="0"/>
        </a:spcAft>
        <a:defRPr sz="3600" b="1">
          <a:solidFill>
            <a:srgbClr val="0070C0"/>
          </a:solidFill>
          <a:latin typeface="Arial Black" pitchFamily="34" charset="0"/>
          <a:ea typeface="Arial Black" pitchFamily="34" charset="0"/>
          <a:cs typeface="Arial Black" pitchFamily="34" charset="0"/>
          <a:sym typeface="Arial Black" pitchFamily="34" charset="0"/>
        </a:defRPr>
      </a:lvl9pPr>
    </p:titleStyle>
    <p:bodyStyle>
      <a:lvl1pPr marL="342900" indent="-342900" algn="l" rtl="0" eaLnBrk="0" fontAlgn="base" hangingPunct="0">
        <a:spcBef>
          <a:spcPts val="600"/>
        </a:spcBef>
        <a:spcAft>
          <a:spcPct val="0"/>
        </a:spcAft>
        <a:buChar char="•"/>
        <a:defRPr sz="1600">
          <a:solidFill>
            <a:srgbClr val="595959"/>
          </a:solidFill>
          <a:latin typeface="+mn-lt"/>
          <a:ea typeface="+mn-ea"/>
          <a:cs typeface="+mn-cs"/>
          <a:sym typeface="Arial Bold" panose="020B0704020202020204" pitchFamily="34" charset="0"/>
        </a:defRPr>
      </a:lvl1pPr>
      <a:lvl2pPr marL="436563" indent="-161925" algn="l" rtl="0" eaLnBrk="0" fontAlgn="base" hangingPunct="0">
        <a:spcBef>
          <a:spcPts val="600"/>
        </a:spcBef>
        <a:spcAft>
          <a:spcPct val="0"/>
        </a:spcAft>
        <a:buSzPct val="100000"/>
        <a:buChar char="•"/>
        <a:defRPr sz="1600">
          <a:solidFill>
            <a:srgbClr val="595959"/>
          </a:solidFill>
          <a:latin typeface="+mn-lt"/>
          <a:ea typeface="+mn-ea"/>
          <a:cs typeface="+mn-cs"/>
          <a:sym typeface="Arial Bold" panose="020B0704020202020204" pitchFamily="34" charset="0"/>
        </a:defRPr>
      </a:lvl2pPr>
      <a:lvl3pPr marL="1117600" indent="-203200" algn="l" rtl="0" eaLnBrk="0" fontAlgn="base" hangingPunct="0">
        <a:spcBef>
          <a:spcPts val="600"/>
        </a:spcBef>
        <a:spcAft>
          <a:spcPct val="0"/>
        </a:spcAft>
        <a:buSzPct val="100000"/>
        <a:buChar char="•"/>
        <a:defRPr sz="1600">
          <a:solidFill>
            <a:srgbClr val="595959"/>
          </a:solidFill>
          <a:latin typeface="+mn-lt"/>
          <a:ea typeface="+mn-ea"/>
          <a:cs typeface="+mn-cs"/>
          <a:sym typeface="Arial Bold" panose="020B0704020202020204" pitchFamily="34" charset="0"/>
        </a:defRPr>
      </a:lvl3pPr>
      <a:lvl4pPr marL="1574800" indent="-203200" algn="l" rtl="0" eaLnBrk="0" fontAlgn="base" hangingPunct="0">
        <a:spcBef>
          <a:spcPts val="600"/>
        </a:spcBef>
        <a:spcAft>
          <a:spcPct val="0"/>
        </a:spcAft>
        <a:buSzPct val="100000"/>
        <a:buChar char="•"/>
        <a:defRPr sz="1600">
          <a:solidFill>
            <a:srgbClr val="595959"/>
          </a:solidFill>
          <a:latin typeface="+mn-lt"/>
          <a:ea typeface="+mn-ea"/>
          <a:cs typeface="+mn-cs"/>
          <a:sym typeface="Arial Bold" panose="020B0704020202020204" pitchFamily="34" charset="0"/>
        </a:defRPr>
      </a:lvl4pPr>
      <a:lvl5pPr marL="2032000" indent="-203200" algn="l" rtl="0" eaLnBrk="0" fontAlgn="base" hangingPunct="0">
        <a:spcBef>
          <a:spcPts val="600"/>
        </a:spcBef>
        <a:spcAft>
          <a:spcPct val="0"/>
        </a:spcAft>
        <a:buSzPct val="100000"/>
        <a:buChar char="•"/>
        <a:defRPr sz="1600">
          <a:solidFill>
            <a:srgbClr val="595959"/>
          </a:solidFill>
          <a:latin typeface="+mn-lt"/>
          <a:ea typeface="+mn-ea"/>
          <a:cs typeface="+mn-cs"/>
          <a:sym typeface="Arial Bold" panose="020B0704020202020204" pitchFamily="34" charset="0"/>
        </a:defRPr>
      </a:lvl5pPr>
      <a:lvl6pPr marL="2489200" indent="-203200" algn="l" rtl="0" fontAlgn="base" hangingPunct="0">
        <a:spcBef>
          <a:spcPts val="600"/>
        </a:spcBef>
        <a:spcAft>
          <a:spcPct val="0"/>
        </a:spcAft>
        <a:buSzPct val="100000"/>
        <a:buChar char="•"/>
        <a:defRPr sz="1600">
          <a:solidFill>
            <a:srgbClr val="595959"/>
          </a:solidFill>
          <a:latin typeface="+mn-lt"/>
          <a:ea typeface="+mn-ea"/>
          <a:cs typeface="+mn-cs"/>
          <a:sym typeface="Arial Bold" charset="0"/>
        </a:defRPr>
      </a:lvl6pPr>
      <a:lvl7pPr marL="2946400" indent="-203200" algn="l" rtl="0" fontAlgn="base" hangingPunct="0">
        <a:spcBef>
          <a:spcPts val="600"/>
        </a:spcBef>
        <a:spcAft>
          <a:spcPct val="0"/>
        </a:spcAft>
        <a:buSzPct val="100000"/>
        <a:buChar char="•"/>
        <a:defRPr sz="1600">
          <a:solidFill>
            <a:srgbClr val="595959"/>
          </a:solidFill>
          <a:latin typeface="+mn-lt"/>
          <a:ea typeface="+mn-ea"/>
          <a:cs typeface="+mn-cs"/>
          <a:sym typeface="Arial Bold" charset="0"/>
        </a:defRPr>
      </a:lvl7pPr>
      <a:lvl8pPr marL="3403600" indent="-203200" algn="l" rtl="0" fontAlgn="base" hangingPunct="0">
        <a:spcBef>
          <a:spcPts val="600"/>
        </a:spcBef>
        <a:spcAft>
          <a:spcPct val="0"/>
        </a:spcAft>
        <a:buSzPct val="100000"/>
        <a:buChar char="•"/>
        <a:defRPr sz="1600">
          <a:solidFill>
            <a:srgbClr val="595959"/>
          </a:solidFill>
          <a:latin typeface="+mn-lt"/>
          <a:ea typeface="+mn-ea"/>
          <a:cs typeface="+mn-cs"/>
          <a:sym typeface="Arial Bold" charset="0"/>
        </a:defRPr>
      </a:lvl8pPr>
      <a:lvl9pPr marL="3860800" indent="-203200" algn="l" rtl="0" fontAlgn="base" hangingPunct="0">
        <a:spcBef>
          <a:spcPts val="600"/>
        </a:spcBef>
        <a:spcAft>
          <a:spcPct val="0"/>
        </a:spcAft>
        <a:buSzPct val="100000"/>
        <a:buChar char="•"/>
        <a:defRPr sz="1600">
          <a:solidFill>
            <a:srgbClr val="595959"/>
          </a:solidFill>
          <a:latin typeface="+mn-lt"/>
          <a:ea typeface="+mn-ea"/>
          <a:cs typeface="+mn-cs"/>
          <a:sym typeface="Arial Bold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90000"/>
          </a:xfrm>
          <a:prstGeom prst="rect">
            <a:avLst/>
          </a:prstGeom>
          <a:solidFill>
            <a:srgbClr val="2A6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1">
                <a:solidFill>
                  <a:srgbClr val="2A6FA6"/>
                </a:solidFill>
                <a:latin typeface="Aptos"/>
              </a:rPr>
              <a:t>FEA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8336280" cy="960263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3000" b="1" dirty="0">
                <a:solidFill>
                  <a:srgbClr val="1B304E"/>
                </a:solidFill>
                <a:latin typeface="Aptos"/>
              </a:rPr>
              <a:t>Static Structural Analysis </a:t>
            </a:r>
            <a:r>
              <a:rPr lang="en-US" sz="3000" b="1" dirty="0" smtClean="0">
                <a:solidFill>
                  <a:srgbClr val="1B304E"/>
                </a:solidFill>
                <a:latin typeface="Aptos"/>
              </a:rPr>
              <a:t>O</a:t>
            </a:r>
            <a:r>
              <a:rPr sz="3000" b="1" dirty="0" smtClean="0">
                <a:solidFill>
                  <a:srgbClr val="1B304E"/>
                </a:solidFill>
                <a:latin typeface="Aptos"/>
              </a:rPr>
              <a:t>f </a:t>
            </a:r>
            <a:r>
              <a:rPr lang="en-IN" sz="3000" b="1" dirty="0" smtClean="0">
                <a:solidFill>
                  <a:srgbClr val="1B304E"/>
                </a:solidFill>
                <a:latin typeface="Aptos"/>
              </a:rPr>
              <a:t>Guillotine Gate &amp; Frame</a:t>
            </a:r>
            <a:endParaRPr lang="en-IN" sz="3000" b="1" dirty="0">
              <a:solidFill>
                <a:srgbClr val="1B304E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2316480"/>
            <a:ext cx="5486400" cy="26776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0" dirty="0">
                <a:solidFill>
                  <a:srgbClr val="5F6973"/>
                </a:solidFill>
                <a:latin typeface="Aptos"/>
              </a:rPr>
              <a:t>Report No.: </a:t>
            </a:r>
            <a:r>
              <a:rPr sz="1500" b="0" dirty="0" smtClean="0">
                <a:solidFill>
                  <a:srgbClr val="5F6973"/>
                </a:solidFill>
                <a:latin typeface="Aptos"/>
              </a:rPr>
              <a:t>MWI/FEA/ACK-61</a:t>
            </a:r>
            <a:r>
              <a:rPr lang="en-US" sz="1500" b="0" dirty="0" smtClean="0">
                <a:solidFill>
                  <a:srgbClr val="5F6973"/>
                </a:solidFill>
                <a:latin typeface="Aptos"/>
              </a:rPr>
              <a:t>79</a:t>
            </a:r>
            <a:r>
              <a:rPr sz="1500" b="0" dirty="0" smtClean="0">
                <a:solidFill>
                  <a:srgbClr val="5F6973"/>
                </a:solidFill>
                <a:latin typeface="Aptos"/>
              </a:rPr>
              <a:t>/01</a:t>
            </a:r>
            <a:endParaRPr sz="1500" b="0" dirty="0">
              <a:solidFill>
                <a:srgbClr val="5F6973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2727960"/>
            <a:ext cx="4572000" cy="28315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500" b="0" dirty="0">
                <a:solidFill>
                  <a:srgbClr val="5F6973"/>
                </a:solidFill>
                <a:latin typeface="Aptos"/>
              </a:rPr>
              <a:t>Date</a:t>
            </a:r>
            <a:r>
              <a:rPr sz="1500" b="0">
                <a:solidFill>
                  <a:srgbClr val="5F6973"/>
                </a:solidFill>
                <a:latin typeface="Aptos"/>
              </a:rPr>
              <a:t>: </a:t>
            </a:r>
            <a:r>
              <a:rPr lang="en-US" sz="1600" smtClean="0">
                <a:solidFill>
                  <a:srgbClr val="5F6973"/>
                </a:solidFill>
                <a:latin typeface="Aptos"/>
              </a:rPr>
              <a:t>4th</a:t>
            </a:r>
            <a:r>
              <a:rPr sz="1500" b="0" smtClean="0">
                <a:solidFill>
                  <a:srgbClr val="5F6973"/>
                </a:solidFill>
                <a:latin typeface="Aptos"/>
              </a:rPr>
              <a:t> </a:t>
            </a:r>
            <a:r>
              <a:rPr lang="en-US" sz="1500" b="0" dirty="0" smtClean="0">
                <a:solidFill>
                  <a:srgbClr val="5F6973"/>
                </a:solidFill>
                <a:latin typeface="Aptos"/>
              </a:rPr>
              <a:t>Sept</a:t>
            </a:r>
            <a:r>
              <a:rPr sz="1500" b="0" dirty="0" smtClean="0">
                <a:solidFill>
                  <a:srgbClr val="5F6973"/>
                </a:solidFill>
                <a:latin typeface="Aptos"/>
              </a:rPr>
              <a:t> </a:t>
            </a:r>
            <a:r>
              <a:rPr sz="1500" b="0" dirty="0">
                <a:solidFill>
                  <a:srgbClr val="5F6973"/>
                </a:solidFill>
                <a:latin typeface="Aptos"/>
              </a:rPr>
              <a:t>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30880"/>
            <a:ext cx="1478280" cy="221599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200" b="1" dirty="0">
                <a:solidFill>
                  <a:srgbClr val="5F6973"/>
                </a:solidFill>
                <a:latin typeface="Aptos"/>
              </a:rPr>
              <a:t>Client</a:t>
            </a:r>
            <a:r>
              <a:rPr sz="1200" b="1" dirty="0" smtClean="0">
                <a:solidFill>
                  <a:srgbClr val="5F6973"/>
                </a:solidFill>
                <a:latin typeface="Aptos"/>
              </a:rPr>
              <a:t>:</a:t>
            </a:r>
            <a:r>
              <a:rPr lang="en-US" sz="1200" b="1" dirty="0" smtClean="0">
                <a:solidFill>
                  <a:srgbClr val="5F6973"/>
                </a:solidFill>
                <a:latin typeface="Aptos"/>
              </a:rPr>
              <a:t> </a:t>
            </a:r>
            <a:r>
              <a:rPr lang="en-IN" sz="900" b="1" dirty="0">
                <a:solidFill>
                  <a:schemeClr val="tx1"/>
                </a:solidFill>
                <a:latin typeface="Aptos"/>
              </a:rPr>
              <a:t>SILVERTONE</a:t>
            </a:r>
            <a:endParaRPr sz="900" b="1" dirty="0">
              <a:solidFill>
                <a:schemeClr val="tx1"/>
              </a:solidFill>
              <a:latin typeface="Aptos"/>
            </a:endParaRP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800523" y="3977639"/>
            <a:ext cx="4138313" cy="109728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640080" y="384048"/>
            <a:ext cx="1088136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500" b="1">
                <a:solidFill>
                  <a:srgbClr val="1B304E"/>
                </a:solidFill>
                <a:latin typeface="Aptos"/>
              </a:rPr>
              <a:t>1. Material Properties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914400"/>
            <a:ext cx="10881360" cy="32004"/>
          </a:xfrm>
          <a:prstGeom prst="rect">
            <a:avLst/>
          </a:prstGeom>
          <a:solidFill>
            <a:srgbClr val="2A6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8151003"/>
              </p:ext>
            </p:extLst>
          </p:nvPr>
        </p:nvGraphicFramePr>
        <p:xfrm>
          <a:off x="640080" y="1417320"/>
          <a:ext cx="1088136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Material</a:t>
                      </a:r>
                    </a:p>
                  </a:txBody>
                  <a:tcPr>
                    <a:solidFill>
                      <a:srgbClr val="1B30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Item</a:t>
                      </a:r>
                    </a:p>
                  </a:txBody>
                  <a:tcPr>
                    <a:solidFill>
                      <a:srgbClr val="1B30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Young's Modulus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(MPa)</a:t>
                      </a:r>
                    </a:p>
                  </a:txBody>
                  <a:tcPr>
                    <a:solidFill>
                      <a:srgbClr val="1B30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Poisson's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Ratio</a:t>
                      </a:r>
                    </a:p>
                  </a:txBody>
                  <a:tcPr>
                    <a:solidFill>
                      <a:srgbClr val="1B30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Density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(t/mm³)</a:t>
                      </a:r>
                    </a:p>
                  </a:txBody>
                  <a:tcPr>
                    <a:solidFill>
                      <a:srgbClr val="1B30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Yield Stress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(MPa)</a:t>
                      </a:r>
                    </a:p>
                  </a:txBody>
                  <a:tcPr>
                    <a:solidFill>
                      <a:srgbClr val="1B30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Allowable Von-Mises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Stress (MPa)</a:t>
                      </a:r>
                    </a:p>
                  </a:txBody>
                  <a:tcPr>
                    <a:solidFill>
                      <a:srgbClr val="1B30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3282D"/>
                          </a:solidFill>
                          <a:latin typeface="Aptos"/>
                        </a:rPr>
                        <a:t>IS 2062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3282D"/>
                          </a:solidFill>
                          <a:latin typeface="Aptos"/>
                        </a:rPr>
                        <a:t>Duct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>
                          <a:solidFill>
                            <a:srgbClr val="23282D"/>
                          </a:solidFill>
                          <a:latin typeface="Aptos"/>
                        </a:rPr>
                        <a:t>191400</a:t>
                      </a:r>
                      <a:endParaRPr sz="1100" dirty="0">
                        <a:solidFill>
                          <a:srgbClr val="23282D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23282D"/>
                          </a:solidFill>
                          <a:latin typeface="Aptos"/>
                        </a:rPr>
                        <a:t>0.3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23282D"/>
                          </a:solidFill>
                          <a:latin typeface="Aptos"/>
                        </a:rPr>
                        <a:t>7.8E-9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>
                          <a:solidFill>
                            <a:srgbClr val="23282D"/>
                          </a:solidFill>
                          <a:latin typeface="Aptos"/>
                        </a:rPr>
                        <a:t>213</a:t>
                      </a:r>
                      <a:endParaRPr sz="1100" dirty="0">
                        <a:solidFill>
                          <a:srgbClr val="23282D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>
                          <a:solidFill>
                            <a:srgbClr val="23282D"/>
                          </a:solidFill>
                          <a:latin typeface="Aptos"/>
                        </a:rPr>
                        <a:t>163</a:t>
                      </a:r>
                      <a:endParaRPr sz="1100" dirty="0">
                        <a:solidFill>
                          <a:srgbClr val="23282D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31520" y="3337560"/>
            <a:ext cx="914400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0">
                <a:solidFill>
                  <a:srgbClr val="23282D"/>
                </a:solidFill>
                <a:latin typeface="Aptos"/>
              </a:rPr>
              <a:t>Units: Length = mm, Mass = tonnes, Time = second, Force = Newton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886200"/>
            <a:ext cx="27432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1">
                <a:solidFill>
                  <a:srgbClr val="1B304E"/>
                </a:solidFill>
                <a:latin typeface="Aptos"/>
              </a:rPr>
              <a:t>Allowable Von-Mises Stress: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297680"/>
            <a:ext cx="274320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000" b="1">
                <a:solidFill>
                  <a:srgbClr val="23282D"/>
                </a:solidFill>
                <a:latin typeface="Aptos"/>
              </a:rPr>
              <a:t>σall = Syt / FOS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4315968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2A6FA6"/>
                </a:solidFill>
                <a:latin typeface="Aptos"/>
              </a:rPr>
              <a:t>FOS = 1.3</a:t>
            </a:r>
          </a:p>
        </p:txBody>
      </p:sp>
    </p:spTree>
    <p:extLst>
      <p:ext uri="{BB962C8B-B14F-4D97-AF65-F5344CB8AC3E}">
        <p14:creationId xmlns:p14="http://schemas.microsoft.com/office/powerpoint/2010/main" val="278565646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42165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500" b="1" dirty="0">
                <a:solidFill>
                  <a:srgbClr val="1B304E"/>
                </a:solidFill>
                <a:latin typeface="Aptos"/>
              </a:rPr>
              <a:t>2. </a:t>
            </a:r>
            <a:r>
              <a:rPr lang="en-US" sz="2500" b="1" dirty="0" smtClean="0">
                <a:solidFill>
                  <a:srgbClr val="1B304E"/>
                </a:solidFill>
                <a:latin typeface="Aptos"/>
              </a:rPr>
              <a:t>GG </a:t>
            </a:r>
            <a:r>
              <a:rPr sz="2500" b="1" dirty="0" smtClean="0">
                <a:solidFill>
                  <a:srgbClr val="1B304E"/>
                </a:solidFill>
                <a:latin typeface="Aptos"/>
              </a:rPr>
              <a:t>Geometry</a:t>
            </a:r>
            <a:endParaRPr sz="2500" b="1" dirty="0">
              <a:solidFill>
                <a:srgbClr val="1B304E"/>
              </a:solidFill>
              <a:latin typeface="Apto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40080" y="914400"/>
            <a:ext cx="10881360" cy="32004"/>
          </a:xfrm>
          <a:prstGeom prst="rect">
            <a:avLst/>
          </a:prstGeom>
          <a:solidFill>
            <a:srgbClr val="2A6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30"/>
          <a:stretch/>
        </p:blipFill>
        <p:spPr>
          <a:xfrm>
            <a:off x="2977343" y="1076999"/>
            <a:ext cx="6206833" cy="5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83100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640080" y="384048"/>
            <a:ext cx="10881360" cy="42165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500" b="1" dirty="0">
                <a:solidFill>
                  <a:srgbClr val="1B304E"/>
                </a:solidFill>
                <a:latin typeface="Aptos"/>
              </a:rPr>
              <a:t>3. </a:t>
            </a:r>
            <a:r>
              <a:rPr lang="en-US" sz="2500" b="1" dirty="0" smtClean="0">
                <a:solidFill>
                  <a:srgbClr val="1B304E"/>
                </a:solidFill>
                <a:latin typeface="Aptos"/>
              </a:rPr>
              <a:t>GG </a:t>
            </a:r>
            <a:r>
              <a:rPr sz="2500" b="1" dirty="0" smtClean="0">
                <a:solidFill>
                  <a:srgbClr val="1B304E"/>
                </a:solidFill>
                <a:latin typeface="Aptos"/>
              </a:rPr>
              <a:t>Mesh</a:t>
            </a:r>
            <a:endParaRPr sz="2500" b="1" dirty="0">
              <a:solidFill>
                <a:srgbClr val="1B304E"/>
              </a:solidFill>
              <a:latin typeface="Apto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40080" y="914400"/>
            <a:ext cx="10881360" cy="32004"/>
          </a:xfrm>
          <a:prstGeom prst="rect">
            <a:avLst/>
          </a:prstGeom>
          <a:solidFill>
            <a:srgbClr val="2A6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1941" y="1068207"/>
            <a:ext cx="5088119" cy="5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00324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10881360" cy="42165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500" b="1" dirty="0" smtClean="0">
                <a:solidFill>
                  <a:srgbClr val="1B304E"/>
                </a:solidFill>
                <a:latin typeface="Aptos"/>
              </a:rPr>
              <a:t>Case 1: </a:t>
            </a:r>
            <a:r>
              <a:rPr lang="en-US" sz="2500" b="1" dirty="0" smtClean="0">
                <a:solidFill>
                  <a:srgbClr val="1B304E"/>
                </a:solidFill>
                <a:latin typeface="Aptos"/>
              </a:rPr>
              <a:t>Guillotine Gate Fully Closed </a:t>
            </a:r>
            <a:r>
              <a:rPr lang="en-US" sz="1600" b="1" dirty="0" smtClean="0">
                <a:solidFill>
                  <a:srgbClr val="1B304E"/>
                </a:solidFill>
                <a:latin typeface="Aptos"/>
              </a:rPr>
              <a:t>(</a:t>
            </a:r>
            <a:r>
              <a:rPr sz="1600" b="1" dirty="0" smtClean="0">
                <a:solidFill>
                  <a:srgbClr val="1B304E"/>
                </a:solidFill>
                <a:latin typeface="Aptos"/>
              </a:rPr>
              <a:t>Self </a:t>
            </a:r>
            <a:r>
              <a:rPr sz="1600" b="1" dirty="0">
                <a:solidFill>
                  <a:srgbClr val="1B304E"/>
                </a:solidFill>
                <a:latin typeface="Aptos"/>
              </a:rPr>
              <a:t>Weight + </a:t>
            </a:r>
            <a:r>
              <a:rPr lang="en-US" sz="1600" b="1" dirty="0" smtClean="0">
                <a:solidFill>
                  <a:srgbClr val="1B304E"/>
                </a:solidFill>
                <a:latin typeface="Aptos"/>
              </a:rPr>
              <a:t>Pressure)</a:t>
            </a:r>
            <a:endParaRPr sz="1600" b="1" dirty="0">
              <a:solidFill>
                <a:srgbClr val="1B304E"/>
              </a:solidFill>
              <a:latin typeface="Apto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7200" y="914399"/>
            <a:ext cx="11277600" cy="45719"/>
          </a:xfrm>
          <a:prstGeom prst="rect">
            <a:avLst/>
          </a:prstGeom>
          <a:solidFill>
            <a:srgbClr val="2A6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53200" y="1295400"/>
            <a:ext cx="274320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600" b="1" dirty="0">
                <a:solidFill>
                  <a:srgbClr val="1B304E"/>
                </a:solidFill>
                <a:latin typeface="Aptos"/>
              </a:rPr>
              <a:t>Boundary Conditions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59126" y="1672802"/>
            <a:ext cx="4595123" cy="1531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en-IN" sz="1400" dirty="0" smtClean="0">
                <a:solidFill>
                  <a:srgbClr val="23282D"/>
                </a:solidFill>
                <a:latin typeface="Aptos"/>
              </a:rPr>
              <a:t>Roller contact area is been Fixed.</a:t>
            </a:r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en-US" sz="1400" dirty="0" smtClean="0">
                <a:solidFill>
                  <a:srgbClr val="23282D"/>
                </a:solidFill>
                <a:latin typeface="Aptos"/>
              </a:rPr>
              <a:t>Free Displacements of 2 mm in Z Direction.</a:t>
            </a:r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en-US" sz="1400" dirty="0" smtClean="0">
                <a:solidFill>
                  <a:srgbClr val="23282D"/>
                </a:solidFill>
                <a:latin typeface="Aptos"/>
              </a:rPr>
              <a:t>Design </a:t>
            </a:r>
            <a:r>
              <a:rPr lang="en-US" sz="1400" dirty="0">
                <a:solidFill>
                  <a:srgbClr val="23282D"/>
                </a:solidFill>
                <a:latin typeface="Aptos"/>
              </a:rPr>
              <a:t>pressure 621.47mmWC applied which is 0.00609 MPa. </a:t>
            </a:r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en-IN" sz="1400" dirty="0" smtClean="0">
                <a:solidFill>
                  <a:srgbClr val="23282D"/>
                </a:solidFill>
                <a:latin typeface="Aptos"/>
              </a:rPr>
              <a:t>self weight considered.</a:t>
            </a:r>
            <a:endParaRPr sz="1400" dirty="0">
              <a:solidFill>
                <a:srgbClr val="23282D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116326" y="3487568"/>
            <a:ext cx="5685274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400" dirty="0" smtClean="0">
                <a:solidFill>
                  <a:srgbClr val="5F6973"/>
                </a:solidFill>
                <a:latin typeface="Aptos"/>
              </a:rPr>
              <a:t>This </a:t>
            </a:r>
            <a:r>
              <a:rPr lang="en-US" sz="1400" dirty="0">
                <a:solidFill>
                  <a:srgbClr val="5F6973"/>
                </a:solidFill>
                <a:latin typeface="Aptos"/>
              </a:rPr>
              <a:t>load case is at the </a:t>
            </a:r>
            <a:r>
              <a:rPr lang="en-US" sz="1400" dirty="0" smtClean="0">
                <a:solidFill>
                  <a:srgbClr val="5F6973"/>
                </a:solidFill>
                <a:latin typeface="Aptos"/>
              </a:rPr>
              <a:t>working temperature </a:t>
            </a:r>
            <a:r>
              <a:rPr lang="en-US" sz="1400" dirty="0">
                <a:solidFill>
                  <a:srgbClr val="5F6973"/>
                </a:solidFill>
                <a:latin typeface="Aptos"/>
              </a:rPr>
              <a:t>of 210°C. </a:t>
            </a:r>
            <a:endParaRPr lang="en-US" sz="1400" dirty="0" smtClean="0">
              <a:solidFill>
                <a:srgbClr val="5F6973"/>
              </a:solidFill>
              <a:latin typeface="Aptos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solidFill>
                  <a:srgbClr val="5F6973"/>
                </a:solidFill>
                <a:latin typeface="Aptos"/>
              </a:rPr>
              <a:t>Boundary conditions were applied to match the physical constraints of the geometry.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solidFill>
                <a:srgbClr val="5F6973"/>
              </a:solidFill>
              <a:latin typeface="Aptos"/>
            </a:endParaRPr>
          </a:p>
          <a:p>
            <a:pPr marL="342900" indent="-342900">
              <a:buFont typeface="+mj-lt"/>
              <a:buAutoNum type="arabicPeriod"/>
            </a:pPr>
            <a:endParaRPr lang="en-IN" dirty="0"/>
          </a:p>
        </p:txBody>
      </p:sp>
      <p:sp>
        <p:nvSpPr>
          <p:cNvPr id="13" name="TextBox 12"/>
          <p:cNvSpPr txBox="1"/>
          <p:nvPr/>
        </p:nvSpPr>
        <p:spPr>
          <a:xfrm>
            <a:off x="6483602" y="3448804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5F6973"/>
                </a:solidFill>
                <a:latin typeface="Aptos"/>
              </a:rPr>
              <a:t>Note: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069" y="1113470"/>
            <a:ext cx="6344854" cy="50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5231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42165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500" b="1" dirty="0" smtClean="0">
                <a:solidFill>
                  <a:srgbClr val="1B304E"/>
                </a:solidFill>
                <a:latin typeface="Aptos"/>
              </a:rPr>
              <a:t>Total </a:t>
            </a:r>
            <a:r>
              <a:rPr sz="2500" b="1" dirty="0">
                <a:solidFill>
                  <a:srgbClr val="1B304E"/>
                </a:solidFill>
                <a:latin typeface="Aptos"/>
              </a:rPr>
              <a:t>Deformation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14400"/>
            <a:ext cx="10881360" cy="32004"/>
          </a:xfrm>
          <a:prstGeom prst="rect">
            <a:avLst/>
          </a:prstGeom>
          <a:solidFill>
            <a:srgbClr val="2A6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22238" y="6063345"/>
            <a:ext cx="3543300" cy="28315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600" b="1" dirty="0">
                <a:solidFill>
                  <a:srgbClr val="1B304E"/>
                </a:solidFill>
                <a:latin typeface="Aptos"/>
              </a:rPr>
              <a:t>Maximum </a:t>
            </a:r>
            <a:r>
              <a:rPr sz="1600" b="1" dirty="0" smtClean="0">
                <a:solidFill>
                  <a:srgbClr val="1B304E"/>
                </a:solidFill>
                <a:latin typeface="Aptos"/>
              </a:rPr>
              <a:t>Total</a:t>
            </a:r>
            <a:r>
              <a:rPr lang="en-US" sz="1600" b="1" dirty="0" smtClean="0">
                <a:solidFill>
                  <a:srgbClr val="1B304E"/>
                </a:solidFill>
                <a:latin typeface="Aptos"/>
              </a:rPr>
              <a:t> </a:t>
            </a:r>
            <a:r>
              <a:rPr sz="1600" b="1" dirty="0" smtClean="0">
                <a:solidFill>
                  <a:srgbClr val="1B304E"/>
                </a:solidFill>
                <a:latin typeface="Aptos"/>
              </a:rPr>
              <a:t>Deformation</a:t>
            </a:r>
            <a:r>
              <a:rPr lang="en-US" sz="1600" b="1" dirty="0" smtClean="0">
                <a:solidFill>
                  <a:srgbClr val="1B304E"/>
                </a:solidFill>
                <a:latin typeface="Aptos"/>
              </a:rPr>
              <a:t> 3 mm</a:t>
            </a:r>
            <a:endParaRPr sz="1600" b="1" dirty="0">
              <a:solidFill>
                <a:srgbClr val="1B304E"/>
              </a:solidFill>
              <a:latin typeface="Aptos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" y="1235663"/>
            <a:ext cx="5307616" cy="4680000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 bwMode="auto">
          <a:xfrm>
            <a:off x="6096000" y="1158592"/>
            <a:ext cx="0" cy="5623208"/>
          </a:xfrm>
          <a:prstGeom prst="line">
            <a:avLst/>
          </a:prstGeom>
          <a:solidFill>
            <a:srgbClr val="FFFFFF"/>
          </a:solidFill>
          <a:ln w="25400" cap="flat" cmpd="sng" algn="ctr">
            <a:solidFill>
              <a:srgbClr val="03506C"/>
            </a:solidFill>
            <a:prstDash val="solid"/>
            <a:bevel/>
            <a:headEnd type="none" w="med" len="med"/>
            <a:tailEnd type="none" w="med" len="med"/>
          </a:ln>
          <a:effectLst/>
        </p:spPr>
      </p:cxnSp>
      <p:sp>
        <p:nvSpPr>
          <p:cNvPr id="9" name="TextBox 8"/>
          <p:cNvSpPr txBox="1"/>
          <p:nvPr/>
        </p:nvSpPr>
        <p:spPr>
          <a:xfrm>
            <a:off x="1997069" y="930402"/>
            <a:ext cx="2248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Total deformation </a:t>
            </a:r>
            <a:endParaRPr lang="en-IN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855067" y="953607"/>
            <a:ext cx="2508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Von-mises stress</a:t>
            </a:r>
            <a:endParaRPr lang="en-IN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83204" y="6080687"/>
            <a:ext cx="5412189" cy="25237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1" dirty="0">
                <a:solidFill>
                  <a:srgbClr val="23282D"/>
                </a:solidFill>
                <a:latin typeface="Aptos"/>
              </a:rPr>
              <a:t>The stress exceeds </a:t>
            </a:r>
            <a:r>
              <a:rPr sz="1400" b="1">
                <a:solidFill>
                  <a:srgbClr val="23282D"/>
                </a:solidFill>
                <a:latin typeface="Aptos"/>
              </a:rPr>
              <a:t>the </a:t>
            </a:r>
            <a:r>
              <a:rPr sz="1400" b="1" smtClean="0">
                <a:solidFill>
                  <a:srgbClr val="23282D"/>
                </a:solidFill>
                <a:latin typeface="Aptos"/>
              </a:rPr>
              <a:t>material</a:t>
            </a:r>
            <a:r>
              <a:rPr lang="en-US" sz="1400" b="1" dirty="0" smtClean="0">
                <a:solidFill>
                  <a:srgbClr val="23282D"/>
                </a:solidFill>
                <a:latin typeface="Aptos"/>
              </a:rPr>
              <a:t>s</a:t>
            </a:r>
            <a:r>
              <a:rPr sz="1400" b="1" smtClean="0">
                <a:solidFill>
                  <a:srgbClr val="23282D"/>
                </a:solidFill>
                <a:latin typeface="Aptos"/>
              </a:rPr>
              <a:t> </a:t>
            </a:r>
            <a:r>
              <a:rPr sz="1400" b="1">
                <a:solidFill>
                  <a:srgbClr val="23282D"/>
                </a:solidFill>
                <a:latin typeface="Aptos"/>
              </a:rPr>
              <a:t>allowable </a:t>
            </a:r>
            <a:r>
              <a:rPr lang="en-US" sz="1400" b="1" dirty="0" smtClean="0">
                <a:solidFill>
                  <a:srgbClr val="23282D"/>
                </a:solidFill>
                <a:latin typeface="Aptos"/>
              </a:rPr>
              <a:t>limit </a:t>
            </a:r>
            <a:r>
              <a:rPr sz="1400" b="1" smtClean="0">
                <a:solidFill>
                  <a:srgbClr val="23282D"/>
                </a:solidFill>
                <a:latin typeface="Aptos"/>
              </a:rPr>
              <a:t>of </a:t>
            </a:r>
            <a:r>
              <a:rPr lang="en-US" sz="1400" b="1" dirty="0" smtClean="0">
                <a:solidFill>
                  <a:srgbClr val="23282D"/>
                </a:solidFill>
                <a:latin typeface="Aptos"/>
              </a:rPr>
              <a:t>163</a:t>
            </a:r>
            <a:r>
              <a:rPr sz="1400" b="1" dirty="0" smtClean="0">
                <a:solidFill>
                  <a:srgbClr val="23282D"/>
                </a:solidFill>
                <a:latin typeface="Aptos"/>
              </a:rPr>
              <a:t> </a:t>
            </a:r>
            <a:r>
              <a:rPr sz="1400" b="1" dirty="0">
                <a:solidFill>
                  <a:srgbClr val="23282D"/>
                </a:solidFill>
                <a:latin typeface="Aptos"/>
              </a:rPr>
              <a:t>MPa.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3204" y="1299734"/>
            <a:ext cx="5329785" cy="46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08015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42165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500" b="1" dirty="0" smtClean="0">
                <a:solidFill>
                  <a:srgbClr val="1B304E"/>
                </a:solidFill>
                <a:latin typeface="Aptos"/>
              </a:rPr>
              <a:t>Observation </a:t>
            </a:r>
            <a:r>
              <a:rPr sz="2500" b="1" dirty="0">
                <a:solidFill>
                  <a:srgbClr val="1B304E"/>
                </a:solidFill>
                <a:latin typeface="Aptos"/>
              </a:rPr>
              <a:t>&amp;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14400"/>
            <a:ext cx="10881360" cy="32004"/>
          </a:xfrm>
          <a:prstGeom prst="rect">
            <a:avLst/>
          </a:prstGeom>
          <a:solidFill>
            <a:srgbClr val="2A6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71611" y="1219200"/>
            <a:ext cx="9966960" cy="139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700" dirty="0">
                <a:solidFill>
                  <a:srgbClr val="23282D"/>
                </a:solidFill>
                <a:latin typeface="Aptos"/>
              </a:rPr>
              <a:t>• Total deformation in the </a:t>
            </a:r>
            <a:r>
              <a:rPr lang="en-US" sz="1700" dirty="0" smtClean="0">
                <a:solidFill>
                  <a:srgbClr val="23282D"/>
                </a:solidFill>
                <a:latin typeface="Aptos"/>
              </a:rPr>
              <a:t>GG</a:t>
            </a:r>
            <a:r>
              <a:rPr sz="1700" dirty="0" smtClean="0">
                <a:solidFill>
                  <a:srgbClr val="23282D"/>
                </a:solidFill>
                <a:latin typeface="Aptos"/>
              </a:rPr>
              <a:t> </a:t>
            </a:r>
            <a:r>
              <a:rPr sz="1700" dirty="0">
                <a:solidFill>
                  <a:srgbClr val="23282D"/>
                </a:solidFill>
                <a:latin typeface="Aptos"/>
              </a:rPr>
              <a:t>is </a:t>
            </a:r>
            <a:r>
              <a:rPr lang="en-US" sz="1700" dirty="0" smtClean="0">
                <a:solidFill>
                  <a:srgbClr val="23282D"/>
                </a:solidFill>
                <a:latin typeface="Aptos"/>
              </a:rPr>
              <a:t>3 </a:t>
            </a:r>
            <a:r>
              <a:rPr sz="1700" dirty="0" smtClean="0">
                <a:solidFill>
                  <a:srgbClr val="23282D"/>
                </a:solidFill>
                <a:latin typeface="Aptos"/>
              </a:rPr>
              <a:t>mm</a:t>
            </a:r>
            <a:r>
              <a:rPr sz="1700" dirty="0">
                <a:solidFill>
                  <a:srgbClr val="23282D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700" dirty="0">
                <a:solidFill>
                  <a:srgbClr val="23282D"/>
                </a:solidFill>
                <a:latin typeface="Aptos"/>
              </a:rPr>
              <a:t>• Von-Mises stress in the </a:t>
            </a:r>
            <a:r>
              <a:rPr lang="en-US" sz="1700" dirty="0" smtClean="0">
                <a:solidFill>
                  <a:srgbClr val="23282D"/>
                </a:solidFill>
                <a:latin typeface="Aptos"/>
              </a:rPr>
              <a:t>GG</a:t>
            </a:r>
            <a:r>
              <a:rPr sz="1700" dirty="0" smtClean="0">
                <a:solidFill>
                  <a:srgbClr val="23282D"/>
                </a:solidFill>
                <a:latin typeface="Aptos"/>
              </a:rPr>
              <a:t> </a:t>
            </a:r>
            <a:r>
              <a:rPr sz="1700" dirty="0">
                <a:solidFill>
                  <a:srgbClr val="23282D"/>
                </a:solidFill>
                <a:latin typeface="Aptos"/>
              </a:rPr>
              <a:t>exceeds </a:t>
            </a:r>
            <a:r>
              <a:rPr sz="1700">
                <a:solidFill>
                  <a:srgbClr val="23282D"/>
                </a:solidFill>
                <a:latin typeface="Aptos"/>
              </a:rPr>
              <a:t>the </a:t>
            </a:r>
            <a:r>
              <a:rPr sz="1700" smtClean="0">
                <a:solidFill>
                  <a:srgbClr val="23282D"/>
                </a:solidFill>
                <a:latin typeface="Aptos"/>
              </a:rPr>
              <a:t>material</a:t>
            </a:r>
            <a:r>
              <a:rPr lang="en-US" sz="1700" dirty="0" smtClean="0">
                <a:solidFill>
                  <a:srgbClr val="23282D"/>
                </a:solidFill>
                <a:latin typeface="Aptos"/>
              </a:rPr>
              <a:t>s</a:t>
            </a:r>
            <a:r>
              <a:rPr sz="1700" smtClean="0">
                <a:solidFill>
                  <a:srgbClr val="23282D"/>
                </a:solidFill>
                <a:latin typeface="Aptos"/>
              </a:rPr>
              <a:t> allowable</a:t>
            </a:r>
            <a:r>
              <a:rPr lang="en-US" sz="1700" dirty="0" smtClean="0">
                <a:solidFill>
                  <a:srgbClr val="23282D"/>
                </a:solidFill>
                <a:latin typeface="Aptos"/>
              </a:rPr>
              <a:t> stress</a:t>
            </a:r>
            <a:r>
              <a:rPr sz="1700" smtClean="0">
                <a:solidFill>
                  <a:srgbClr val="23282D"/>
                </a:solidFill>
                <a:latin typeface="Aptos"/>
              </a:rPr>
              <a:t> limit </a:t>
            </a:r>
            <a:r>
              <a:rPr sz="1700" dirty="0">
                <a:solidFill>
                  <a:srgbClr val="23282D"/>
                </a:solidFill>
                <a:latin typeface="Aptos"/>
              </a:rPr>
              <a:t>of </a:t>
            </a:r>
            <a:r>
              <a:rPr lang="en-IN" sz="1700" dirty="0" smtClean="0">
                <a:solidFill>
                  <a:srgbClr val="23282D"/>
                </a:solidFill>
                <a:latin typeface="Aptos"/>
              </a:rPr>
              <a:t>163</a:t>
            </a:r>
            <a:r>
              <a:rPr sz="1700" dirty="0" smtClean="0">
                <a:solidFill>
                  <a:srgbClr val="23282D"/>
                </a:solidFill>
                <a:latin typeface="Aptos"/>
              </a:rPr>
              <a:t> </a:t>
            </a:r>
            <a:r>
              <a:rPr sz="1700" dirty="0">
                <a:solidFill>
                  <a:srgbClr val="23282D"/>
                </a:solidFill>
                <a:latin typeface="Aptos"/>
              </a:rPr>
              <a:t>MPa.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lang="en-US" sz="1700" dirty="0">
                <a:solidFill>
                  <a:srgbClr val="23282D"/>
                </a:solidFill>
                <a:latin typeface="Aptos"/>
              </a:rPr>
              <a:t>• Therefore, the GG is structurally inadequate to withstand the applied load under this load case. Need to take corrective actions.</a:t>
            </a:r>
          </a:p>
        </p:txBody>
      </p:sp>
    </p:spTree>
    <p:extLst>
      <p:ext uri="{BB962C8B-B14F-4D97-AF65-F5344CB8AC3E}">
        <p14:creationId xmlns:p14="http://schemas.microsoft.com/office/powerpoint/2010/main" val="308605488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42165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2500" b="1" dirty="0" smtClean="0">
                <a:solidFill>
                  <a:srgbClr val="1B304E"/>
                </a:solidFill>
                <a:latin typeface="Aptos"/>
              </a:rPr>
              <a:t>Case 2: </a:t>
            </a:r>
            <a:r>
              <a:rPr lang="en-US" sz="2500" b="1" dirty="0" smtClean="0">
                <a:solidFill>
                  <a:srgbClr val="1B304E"/>
                </a:solidFill>
                <a:latin typeface="Aptos"/>
              </a:rPr>
              <a:t>Guillotine </a:t>
            </a:r>
            <a:r>
              <a:rPr lang="en-US" sz="2500" b="1" dirty="0">
                <a:solidFill>
                  <a:srgbClr val="1B304E"/>
                </a:solidFill>
                <a:latin typeface="Aptos"/>
              </a:rPr>
              <a:t>Gate </a:t>
            </a:r>
            <a:r>
              <a:rPr lang="en-US" sz="2500" b="1" dirty="0" smtClean="0">
                <a:solidFill>
                  <a:srgbClr val="1B304E"/>
                </a:solidFill>
                <a:latin typeface="Aptos"/>
              </a:rPr>
              <a:t>Partially Closed </a:t>
            </a:r>
            <a:r>
              <a:rPr lang="en-US" sz="1600" b="1" dirty="0">
                <a:solidFill>
                  <a:srgbClr val="1B304E"/>
                </a:solidFill>
                <a:latin typeface="Aptos"/>
              </a:rPr>
              <a:t>(Self Weight + Pressure)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14400"/>
            <a:ext cx="10881360" cy="32004"/>
          </a:xfrm>
          <a:prstGeom prst="rect">
            <a:avLst/>
          </a:prstGeom>
          <a:solidFill>
            <a:srgbClr val="2A6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0" y="1645920"/>
            <a:ext cx="274320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600" b="1">
                <a:solidFill>
                  <a:srgbClr val="1B304E"/>
                </a:solidFill>
                <a:latin typeface="Aptos"/>
              </a:rPr>
              <a:t>Boundary Conditions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86600" y="1965960"/>
            <a:ext cx="4595123" cy="1531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en-IN" sz="1400" dirty="0">
                <a:solidFill>
                  <a:srgbClr val="23282D"/>
                </a:solidFill>
                <a:latin typeface="Aptos"/>
              </a:rPr>
              <a:t>Roller contact area is been Fixed.</a:t>
            </a:r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en-US" sz="1400" dirty="0" smtClean="0">
                <a:solidFill>
                  <a:srgbClr val="23282D"/>
                </a:solidFill>
                <a:latin typeface="Aptos"/>
              </a:rPr>
              <a:t>Design </a:t>
            </a:r>
            <a:r>
              <a:rPr lang="en-US" sz="1400" dirty="0">
                <a:solidFill>
                  <a:srgbClr val="23282D"/>
                </a:solidFill>
                <a:latin typeface="Aptos"/>
              </a:rPr>
              <a:t>pressure 621.47mmWC applied which is 0.00609 MPa. </a:t>
            </a:r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en-US" sz="1400" dirty="0">
                <a:solidFill>
                  <a:srgbClr val="23282D"/>
                </a:solidFill>
                <a:latin typeface="Aptos"/>
              </a:rPr>
              <a:t>Free Displacements of 2 mm in Z Direction.</a:t>
            </a:r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en-IN" sz="1400" dirty="0" smtClean="0">
                <a:solidFill>
                  <a:srgbClr val="23282D"/>
                </a:solidFill>
                <a:latin typeface="Aptos"/>
              </a:rPr>
              <a:t>Self weight considered</a:t>
            </a:r>
            <a:endParaRPr sz="1400" dirty="0">
              <a:solidFill>
                <a:srgbClr val="23282D"/>
              </a:solidFill>
              <a:latin typeface="Aptos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733"/>
          <a:stretch/>
        </p:blipFill>
        <p:spPr>
          <a:xfrm>
            <a:off x="304800" y="952266"/>
            <a:ext cx="7010400" cy="50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79795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42165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lang="en-US" sz="2500" b="1" dirty="0" smtClean="0">
                <a:solidFill>
                  <a:srgbClr val="1B304E"/>
                </a:solidFill>
                <a:latin typeface="Aptos"/>
              </a:rPr>
              <a:t>Results</a:t>
            </a:r>
            <a:endParaRPr sz="2500" b="1" dirty="0">
              <a:solidFill>
                <a:srgbClr val="1B304E"/>
              </a:solidFill>
              <a:latin typeface="Apto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40080" y="914400"/>
            <a:ext cx="10881360" cy="32004"/>
          </a:xfrm>
          <a:prstGeom prst="rect">
            <a:avLst/>
          </a:prstGeom>
          <a:solidFill>
            <a:srgbClr val="2A6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0600" y="6193846"/>
            <a:ext cx="3810000" cy="28315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600" b="1" dirty="0">
                <a:solidFill>
                  <a:srgbClr val="1B304E"/>
                </a:solidFill>
                <a:latin typeface="Aptos"/>
              </a:rPr>
              <a:t>Maximum </a:t>
            </a:r>
            <a:r>
              <a:rPr sz="1600" b="1" dirty="0" smtClean="0">
                <a:solidFill>
                  <a:srgbClr val="1B304E"/>
                </a:solidFill>
                <a:latin typeface="Aptos"/>
              </a:rPr>
              <a:t>Total</a:t>
            </a:r>
            <a:r>
              <a:rPr lang="en-US" sz="1600" b="1" dirty="0" smtClean="0">
                <a:solidFill>
                  <a:srgbClr val="1B304E"/>
                </a:solidFill>
                <a:latin typeface="Aptos"/>
              </a:rPr>
              <a:t> </a:t>
            </a:r>
            <a:r>
              <a:rPr sz="1600" b="1" dirty="0" smtClean="0">
                <a:solidFill>
                  <a:srgbClr val="1B304E"/>
                </a:solidFill>
                <a:latin typeface="Aptos"/>
              </a:rPr>
              <a:t>Deformation</a:t>
            </a:r>
            <a:r>
              <a:rPr lang="en-US" sz="1600" b="1" dirty="0" smtClean="0">
                <a:solidFill>
                  <a:srgbClr val="1B304E"/>
                </a:solidFill>
                <a:latin typeface="Aptos"/>
              </a:rPr>
              <a:t> – 4 mm</a:t>
            </a:r>
            <a:endParaRPr sz="1600" b="1" dirty="0">
              <a:solidFill>
                <a:srgbClr val="1B304E"/>
              </a:solidFill>
              <a:latin typeface="Aptos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009" y="1233009"/>
            <a:ext cx="5375851" cy="4781962"/>
          </a:xfrm>
          <a:prstGeom prst="rect">
            <a:avLst/>
          </a:prstGeom>
        </p:spPr>
      </p:pic>
      <p:cxnSp>
        <p:nvCxnSpPr>
          <p:cNvPr id="10" name="Straight Connector 9"/>
          <p:cNvCxnSpPr/>
          <p:nvPr/>
        </p:nvCxnSpPr>
        <p:spPr bwMode="auto">
          <a:xfrm>
            <a:off x="6096000" y="1158592"/>
            <a:ext cx="0" cy="5623208"/>
          </a:xfrm>
          <a:prstGeom prst="line">
            <a:avLst/>
          </a:prstGeom>
          <a:solidFill>
            <a:srgbClr val="FFFFFF"/>
          </a:solidFill>
          <a:ln w="25400" cap="flat" cmpd="sng" algn="ctr">
            <a:solidFill>
              <a:srgbClr val="03506C"/>
            </a:solidFill>
            <a:prstDash val="solid"/>
            <a:bevel/>
            <a:headEnd type="none" w="med" len="med"/>
            <a:tailEnd type="none" w="med" len="med"/>
          </a:ln>
          <a:effectLst/>
        </p:spPr>
      </p:cxnSp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0141" y="1229843"/>
            <a:ext cx="5552129" cy="5040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997069" y="930402"/>
            <a:ext cx="2248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Total deformation </a:t>
            </a:r>
            <a:endParaRPr lang="en-IN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855067" y="953607"/>
            <a:ext cx="2508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Von-mises stress</a:t>
            </a:r>
            <a:endParaRPr lang="en-IN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83204" y="6300823"/>
            <a:ext cx="5412189" cy="25237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1" dirty="0">
                <a:solidFill>
                  <a:srgbClr val="23282D"/>
                </a:solidFill>
                <a:latin typeface="Aptos"/>
              </a:rPr>
              <a:t>The stress exceeds </a:t>
            </a:r>
            <a:r>
              <a:rPr sz="1400" b="1">
                <a:solidFill>
                  <a:srgbClr val="23282D"/>
                </a:solidFill>
                <a:latin typeface="Aptos"/>
              </a:rPr>
              <a:t>the </a:t>
            </a:r>
            <a:r>
              <a:rPr sz="1400" b="1" smtClean="0">
                <a:solidFill>
                  <a:srgbClr val="23282D"/>
                </a:solidFill>
                <a:latin typeface="Aptos"/>
              </a:rPr>
              <a:t>material</a:t>
            </a:r>
            <a:r>
              <a:rPr lang="en-US" sz="1400" b="1" dirty="0" smtClean="0">
                <a:solidFill>
                  <a:srgbClr val="23282D"/>
                </a:solidFill>
                <a:latin typeface="Aptos"/>
              </a:rPr>
              <a:t>s</a:t>
            </a:r>
            <a:r>
              <a:rPr sz="1400" b="1" smtClean="0">
                <a:solidFill>
                  <a:srgbClr val="23282D"/>
                </a:solidFill>
                <a:latin typeface="Aptos"/>
              </a:rPr>
              <a:t> </a:t>
            </a:r>
            <a:r>
              <a:rPr sz="1400" b="1">
                <a:solidFill>
                  <a:srgbClr val="23282D"/>
                </a:solidFill>
                <a:latin typeface="Aptos"/>
              </a:rPr>
              <a:t>allowable </a:t>
            </a:r>
            <a:r>
              <a:rPr lang="en-US" sz="1400" b="1" dirty="0" smtClean="0">
                <a:solidFill>
                  <a:srgbClr val="23282D"/>
                </a:solidFill>
                <a:latin typeface="Aptos"/>
              </a:rPr>
              <a:t>limit </a:t>
            </a:r>
            <a:r>
              <a:rPr sz="1400" b="1" smtClean="0">
                <a:solidFill>
                  <a:srgbClr val="23282D"/>
                </a:solidFill>
                <a:latin typeface="Aptos"/>
              </a:rPr>
              <a:t>of </a:t>
            </a:r>
            <a:r>
              <a:rPr lang="en-US" sz="1400" b="1" dirty="0" smtClean="0">
                <a:solidFill>
                  <a:srgbClr val="23282D"/>
                </a:solidFill>
                <a:latin typeface="Aptos"/>
              </a:rPr>
              <a:t>163</a:t>
            </a:r>
            <a:r>
              <a:rPr sz="1400" b="1" dirty="0" smtClean="0">
                <a:solidFill>
                  <a:srgbClr val="23282D"/>
                </a:solidFill>
                <a:latin typeface="Aptos"/>
              </a:rPr>
              <a:t> </a:t>
            </a:r>
            <a:r>
              <a:rPr sz="1400" b="1" dirty="0">
                <a:solidFill>
                  <a:srgbClr val="23282D"/>
                </a:solidFill>
                <a:latin typeface="Aptos"/>
              </a:rPr>
              <a:t>MPa.</a:t>
            </a:r>
          </a:p>
        </p:txBody>
      </p:sp>
    </p:spTree>
    <p:extLst>
      <p:ext uri="{BB962C8B-B14F-4D97-AF65-F5344CB8AC3E}">
        <p14:creationId xmlns:p14="http://schemas.microsoft.com/office/powerpoint/2010/main" val="30801264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500" b="1">
                <a:solidFill>
                  <a:srgbClr val="1B304E"/>
                </a:solidFill>
                <a:latin typeface="Aptos"/>
              </a:rPr>
              <a:t>Case 2: Observation &amp;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14400"/>
            <a:ext cx="10881360" cy="32004"/>
          </a:xfrm>
          <a:prstGeom prst="rect">
            <a:avLst/>
          </a:prstGeom>
          <a:solidFill>
            <a:srgbClr val="2A6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19200"/>
            <a:ext cx="9966960" cy="139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700" dirty="0">
                <a:solidFill>
                  <a:srgbClr val="23282D"/>
                </a:solidFill>
                <a:latin typeface="Aptos"/>
              </a:rPr>
              <a:t>• Total deformation in the </a:t>
            </a:r>
            <a:r>
              <a:rPr lang="en-US" sz="1700" dirty="0" smtClean="0">
                <a:solidFill>
                  <a:srgbClr val="23282D"/>
                </a:solidFill>
                <a:latin typeface="Aptos"/>
              </a:rPr>
              <a:t>GG</a:t>
            </a:r>
            <a:r>
              <a:rPr sz="1700" dirty="0" smtClean="0">
                <a:solidFill>
                  <a:srgbClr val="23282D"/>
                </a:solidFill>
                <a:latin typeface="Aptos"/>
              </a:rPr>
              <a:t> </a:t>
            </a:r>
            <a:r>
              <a:rPr sz="1700" dirty="0">
                <a:solidFill>
                  <a:srgbClr val="23282D"/>
                </a:solidFill>
                <a:latin typeface="Aptos"/>
              </a:rPr>
              <a:t>is </a:t>
            </a:r>
            <a:r>
              <a:rPr lang="en-US" sz="1700" dirty="0" smtClean="0">
                <a:solidFill>
                  <a:srgbClr val="23282D"/>
                </a:solidFill>
                <a:latin typeface="Aptos"/>
              </a:rPr>
              <a:t>4</a:t>
            </a:r>
            <a:r>
              <a:rPr sz="1700" dirty="0" smtClean="0">
                <a:solidFill>
                  <a:srgbClr val="23282D"/>
                </a:solidFill>
                <a:latin typeface="Aptos"/>
              </a:rPr>
              <a:t> </a:t>
            </a:r>
            <a:r>
              <a:rPr sz="1700" dirty="0">
                <a:solidFill>
                  <a:srgbClr val="23282D"/>
                </a:solidFill>
                <a:latin typeface="Aptos"/>
              </a:rPr>
              <a:t>mm.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700" dirty="0">
                <a:solidFill>
                  <a:srgbClr val="23282D"/>
                </a:solidFill>
                <a:latin typeface="Aptos"/>
              </a:rPr>
              <a:t>• Von-Mises stress in the </a:t>
            </a:r>
            <a:r>
              <a:rPr lang="en-US" sz="1700" dirty="0" smtClean="0">
                <a:solidFill>
                  <a:srgbClr val="23282D"/>
                </a:solidFill>
                <a:latin typeface="Aptos"/>
              </a:rPr>
              <a:t>GG</a:t>
            </a:r>
            <a:r>
              <a:rPr sz="1700" dirty="0" smtClean="0">
                <a:solidFill>
                  <a:srgbClr val="23282D"/>
                </a:solidFill>
                <a:latin typeface="Aptos"/>
              </a:rPr>
              <a:t> </a:t>
            </a:r>
            <a:r>
              <a:rPr sz="1700" dirty="0">
                <a:solidFill>
                  <a:srgbClr val="23282D"/>
                </a:solidFill>
                <a:latin typeface="Aptos"/>
              </a:rPr>
              <a:t>exceeds </a:t>
            </a:r>
            <a:r>
              <a:rPr sz="1700">
                <a:solidFill>
                  <a:srgbClr val="23282D"/>
                </a:solidFill>
                <a:latin typeface="Aptos"/>
              </a:rPr>
              <a:t>the </a:t>
            </a:r>
            <a:r>
              <a:rPr sz="1700" smtClean="0">
                <a:solidFill>
                  <a:srgbClr val="23282D"/>
                </a:solidFill>
                <a:latin typeface="Aptos"/>
              </a:rPr>
              <a:t>material</a:t>
            </a:r>
            <a:r>
              <a:rPr lang="en-US" sz="1700" dirty="0" smtClean="0">
                <a:solidFill>
                  <a:srgbClr val="23282D"/>
                </a:solidFill>
                <a:latin typeface="Aptos"/>
              </a:rPr>
              <a:t>s</a:t>
            </a:r>
            <a:r>
              <a:rPr sz="1700" smtClean="0">
                <a:solidFill>
                  <a:srgbClr val="23282D"/>
                </a:solidFill>
                <a:latin typeface="Aptos"/>
              </a:rPr>
              <a:t> </a:t>
            </a:r>
            <a:r>
              <a:rPr sz="1700" dirty="0">
                <a:solidFill>
                  <a:srgbClr val="23282D"/>
                </a:solidFill>
                <a:latin typeface="Aptos"/>
              </a:rPr>
              <a:t>allowable stress limit of </a:t>
            </a:r>
            <a:r>
              <a:rPr lang="en-US" sz="1700" dirty="0" smtClean="0">
                <a:solidFill>
                  <a:srgbClr val="23282D"/>
                </a:solidFill>
                <a:latin typeface="Aptos"/>
              </a:rPr>
              <a:t>163</a:t>
            </a:r>
            <a:r>
              <a:rPr sz="1700" dirty="0" smtClean="0">
                <a:solidFill>
                  <a:srgbClr val="23282D"/>
                </a:solidFill>
                <a:latin typeface="Aptos"/>
              </a:rPr>
              <a:t> </a:t>
            </a:r>
            <a:r>
              <a:rPr sz="1700" dirty="0">
                <a:solidFill>
                  <a:srgbClr val="23282D"/>
                </a:solidFill>
                <a:latin typeface="Aptos"/>
              </a:rPr>
              <a:t>MPa.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700" dirty="0">
                <a:solidFill>
                  <a:srgbClr val="23282D"/>
                </a:solidFill>
                <a:latin typeface="Aptos"/>
              </a:rPr>
              <a:t>• Therefore, the </a:t>
            </a:r>
            <a:r>
              <a:rPr lang="en-US" sz="1700" dirty="0" smtClean="0">
                <a:solidFill>
                  <a:srgbClr val="23282D"/>
                </a:solidFill>
                <a:latin typeface="Aptos"/>
              </a:rPr>
              <a:t>GG</a:t>
            </a:r>
            <a:r>
              <a:rPr sz="1700" dirty="0" smtClean="0">
                <a:solidFill>
                  <a:srgbClr val="23282D"/>
                </a:solidFill>
                <a:latin typeface="Aptos"/>
              </a:rPr>
              <a:t> </a:t>
            </a:r>
            <a:r>
              <a:rPr sz="1700" dirty="0">
                <a:solidFill>
                  <a:srgbClr val="23282D"/>
                </a:solidFill>
                <a:latin typeface="Aptos"/>
              </a:rPr>
              <a:t>is structurally inadequate to withstand the applied load under this load </a:t>
            </a:r>
            <a:r>
              <a:rPr sz="1700" dirty="0" smtClean="0">
                <a:solidFill>
                  <a:srgbClr val="23282D"/>
                </a:solidFill>
                <a:latin typeface="Aptos"/>
              </a:rPr>
              <a:t>case.</a:t>
            </a:r>
            <a:r>
              <a:rPr lang="en-US" sz="1700" dirty="0" smtClean="0">
                <a:solidFill>
                  <a:srgbClr val="23282D"/>
                </a:solidFill>
                <a:latin typeface="Aptos"/>
              </a:rPr>
              <a:t> Need to take corrective actions.</a:t>
            </a:r>
            <a:endParaRPr lang="en-US" sz="1700" dirty="0">
              <a:solidFill>
                <a:srgbClr val="23282D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66032784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500" b="1">
                <a:solidFill>
                  <a:srgbClr val="1B304E"/>
                </a:solidFill>
                <a:latin typeface="Aptos"/>
              </a:rPr>
              <a:t>Final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14400"/>
            <a:ext cx="10881360" cy="32004"/>
          </a:xfrm>
          <a:prstGeom prst="rect">
            <a:avLst/>
          </a:prstGeom>
          <a:solidFill>
            <a:srgbClr val="2A6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6668903"/>
              </p:ext>
            </p:extLst>
          </p:nvPr>
        </p:nvGraphicFramePr>
        <p:xfrm>
          <a:off x="685800" y="1371600"/>
          <a:ext cx="10134600" cy="1428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3650">
                  <a:extLst>
                    <a:ext uri="{9D8B030D-6E8A-4147-A177-3AD203B41FA5}">
                      <a16:colId xmlns:a16="http://schemas.microsoft.com/office/drawing/2014/main" val="1989124291"/>
                    </a:ext>
                  </a:extLst>
                </a:gridCol>
                <a:gridCol w="2533650">
                  <a:extLst>
                    <a:ext uri="{9D8B030D-6E8A-4147-A177-3AD203B41FA5}">
                      <a16:colId xmlns:a16="http://schemas.microsoft.com/office/drawing/2014/main" val="3267466750"/>
                    </a:ext>
                  </a:extLst>
                </a:gridCol>
                <a:gridCol w="2533650">
                  <a:extLst>
                    <a:ext uri="{9D8B030D-6E8A-4147-A177-3AD203B41FA5}">
                      <a16:colId xmlns:a16="http://schemas.microsoft.com/office/drawing/2014/main" val="2017696238"/>
                    </a:ext>
                  </a:extLst>
                </a:gridCol>
                <a:gridCol w="2533650">
                  <a:extLst>
                    <a:ext uri="{9D8B030D-6E8A-4147-A177-3AD203B41FA5}">
                      <a16:colId xmlns:a16="http://schemas.microsoft.com/office/drawing/2014/main" val="2275425998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pPr algn="ctr"/>
                      <a:r>
                        <a:rPr sz="1100" dirty="0"/>
                        <a:t>Load Case</a:t>
                      </a:r>
                      <a:endParaRPr sz="1100" b="1" dirty="0">
                        <a:solidFill>
                          <a:srgbClr val="FFFFFF"/>
                        </a:solidFill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Max. Deformation</a:t>
                      </a:r>
                      <a:endParaRPr sz="1100" b="1">
                        <a:solidFill>
                          <a:srgbClr val="FFFFFF"/>
                        </a:solidFill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Max. Von-Mises Stress</a:t>
                      </a:r>
                      <a:endParaRPr sz="1100" b="1">
                        <a:solidFill>
                          <a:srgbClr val="FFFFFF"/>
                        </a:solidFill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Allowable Stress</a:t>
                      </a:r>
                      <a:endParaRPr sz="1100" b="1">
                        <a:solidFill>
                          <a:srgbClr val="FFFFFF"/>
                        </a:solidFill>
                        <a:latin typeface="Apto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2630822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sz="1300" b="0" kern="1200" dirty="0" smtClean="0">
                          <a:latin typeface="Aptos"/>
                        </a:rPr>
                        <a:t>Case</a:t>
                      </a:r>
                      <a:r>
                        <a:rPr lang="en-US" sz="1300" b="0" kern="1200" baseline="0" dirty="0" smtClean="0">
                          <a:latin typeface="Aptos"/>
                        </a:rPr>
                        <a:t> – GG </a:t>
                      </a:r>
                      <a:r>
                        <a:rPr lang="en-US" sz="1300" b="0" kern="1200" dirty="0" smtClean="0">
                          <a:latin typeface="Aptos"/>
                        </a:rPr>
                        <a:t>Fully closed</a:t>
                      </a:r>
                      <a:endParaRPr sz="1300" b="0" kern="1200" dirty="0">
                        <a:solidFill>
                          <a:srgbClr val="23282D"/>
                        </a:solidFill>
                        <a:latin typeface="Aptos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kern="1200" dirty="0" smtClean="0">
                          <a:latin typeface="Aptos"/>
                        </a:rPr>
                        <a:t>3</a:t>
                      </a:r>
                      <a:r>
                        <a:rPr sz="1300" b="0" kern="1200" dirty="0" smtClean="0">
                          <a:latin typeface="Aptos"/>
                        </a:rPr>
                        <a:t> </a:t>
                      </a:r>
                      <a:r>
                        <a:rPr sz="1300" b="0" kern="1200" dirty="0">
                          <a:latin typeface="Aptos"/>
                        </a:rPr>
                        <a:t>mm</a:t>
                      </a:r>
                      <a:endParaRPr sz="1300" b="0" kern="1200" dirty="0">
                        <a:solidFill>
                          <a:srgbClr val="23282D"/>
                        </a:solidFill>
                        <a:latin typeface="Aptos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 b="0" kern="1200" dirty="0" smtClean="0">
                          <a:latin typeface="Aptos"/>
                        </a:rPr>
                        <a:t>Exceeding Limit</a:t>
                      </a:r>
                      <a:endParaRPr lang="en-IN" sz="1300" b="0" kern="1200" dirty="0">
                        <a:solidFill>
                          <a:srgbClr val="23282D"/>
                        </a:solidFill>
                        <a:latin typeface="Aptos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kern="1200" dirty="0" smtClean="0">
                          <a:latin typeface="Aptos"/>
                        </a:rPr>
                        <a:t>1</a:t>
                      </a:r>
                      <a:r>
                        <a:rPr lang="en-US" sz="1300" b="0" kern="1200" dirty="0" smtClean="0">
                          <a:latin typeface="Aptos"/>
                        </a:rPr>
                        <a:t>63</a:t>
                      </a:r>
                      <a:r>
                        <a:rPr sz="1300" b="0" kern="1200" dirty="0" smtClean="0">
                          <a:latin typeface="Aptos"/>
                        </a:rPr>
                        <a:t> </a:t>
                      </a:r>
                      <a:r>
                        <a:rPr sz="1300" b="0" kern="1200" dirty="0">
                          <a:latin typeface="Aptos"/>
                        </a:rPr>
                        <a:t>MPa</a:t>
                      </a:r>
                      <a:endParaRPr sz="1300" b="0" kern="1200" dirty="0">
                        <a:solidFill>
                          <a:srgbClr val="23282D"/>
                        </a:solidFill>
                        <a:latin typeface="Aptos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8776648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sz="1300" b="0" kern="1200" dirty="0" smtClean="0">
                          <a:latin typeface="Aptos"/>
                        </a:rPr>
                        <a:t>Case</a:t>
                      </a:r>
                      <a:r>
                        <a:rPr lang="en-US" sz="1300" b="0" kern="1200" baseline="0" dirty="0" smtClean="0">
                          <a:latin typeface="Aptos"/>
                        </a:rPr>
                        <a:t> – GG </a:t>
                      </a:r>
                      <a:r>
                        <a:rPr lang="en-US" sz="1300" b="0" kern="1200" dirty="0" smtClean="0">
                          <a:latin typeface="Aptos"/>
                        </a:rPr>
                        <a:t>Partially closed</a:t>
                      </a:r>
                      <a:endParaRPr lang="en-US" sz="1300" b="0" kern="1200" dirty="0">
                        <a:solidFill>
                          <a:srgbClr val="23282D"/>
                        </a:solidFill>
                        <a:latin typeface="Aptos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kern="1200" dirty="0" smtClean="0">
                          <a:latin typeface="Aptos"/>
                        </a:rPr>
                        <a:t>4 </a:t>
                      </a:r>
                      <a:r>
                        <a:rPr sz="1300" b="0" kern="1200" dirty="0" smtClean="0">
                          <a:latin typeface="Aptos"/>
                        </a:rPr>
                        <a:t>mm</a:t>
                      </a:r>
                      <a:endParaRPr sz="1300" b="0" kern="1200" dirty="0">
                        <a:solidFill>
                          <a:srgbClr val="23282D"/>
                        </a:solidFill>
                        <a:latin typeface="Aptos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 b="0" kern="1200" dirty="0" smtClean="0">
                          <a:latin typeface="Aptos"/>
                        </a:rPr>
                        <a:t>Exceeding Limit</a:t>
                      </a:r>
                      <a:endParaRPr sz="1300" b="0" kern="1200" dirty="0">
                        <a:solidFill>
                          <a:srgbClr val="23282D"/>
                        </a:solidFill>
                        <a:latin typeface="Aptos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kern="1200" dirty="0" smtClean="0">
                          <a:latin typeface="Aptos"/>
                        </a:rPr>
                        <a:t>1</a:t>
                      </a:r>
                      <a:r>
                        <a:rPr lang="en-US" sz="1300" b="0" kern="1200" dirty="0" smtClean="0">
                          <a:latin typeface="Aptos"/>
                        </a:rPr>
                        <a:t>63</a:t>
                      </a:r>
                      <a:r>
                        <a:rPr sz="1300" b="0" kern="1200" dirty="0" smtClean="0">
                          <a:latin typeface="Aptos"/>
                        </a:rPr>
                        <a:t> </a:t>
                      </a:r>
                      <a:r>
                        <a:rPr sz="1300" b="0" kern="1200" dirty="0">
                          <a:latin typeface="Aptos"/>
                        </a:rPr>
                        <a:t>MPa</a:t>
                      </a:r>
                      <a:endParaRPr sz="1300" b="0" kern="1200" dirty="0">
                        <a:solidFill>
                          <a:srgbClr val="23282D"/>
                        </a:solidFill>
                        <a:latin typeface="Aptos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59171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758835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- Default">
  <a:themeElements>
    <a:clrScheme name="">
      <a:dk1>
        <a:srgbClr val="595959"/>
      </a:dk1>
      <a:lt1>
        <a:srgbClr val="FFFFFF"/>
      </a:lt1>
      <a:dk2>
        <a:srgbClr val="A7A7A7"/>
      </a:dk2>
      <a:lt2>
        <a:srgbClr val="535353"/>
      </a:lt2>
      <a:accent1>
        <a:srgbClr val="03506C"/>
      </a:accent1>
      <a:accent2>
        <a:srgbClr val="707070"/>
      </a:accent2>
      <a:accent3>
        <a:srgbClr val="FFFFFF"/>
      </a:accent3>
      <a:accent4>
        <a:srgbClr val="4B4B4B"/>
      </a:accent4>
      <a:accent5>
        <a:srgbClr val="AAB3BA"/>
      </a:accent5>
      <a:accent6>
        <a:srgbClr val="656565"/>
      </a:accent6>
      <a:hlink>
        <a:srgbClr val="0000FF"/>
      </a:hlink>
      <a:folHlink>
        <a:srgbClr val="FF00FF"/>
      </a:folHlink>
    </a:clrScheme>
    <a:fontScheme name="Default - Default">
      <a:majorFont>
        <a:latin typeface="Arial Black"/>
        <a:ea typeface="Arial Black"/>
        <a:cs typeface="Arial Black"/>
      </a:majorFont>
      <a:minorFont>
        <a:latin typeface="Arial Bold"/>
        <a:ea typeface="Arial Bold"/>
        <a:cs typeface="Arial Bold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25400" cap="flat" cmpd="sng" algn="ctr">
          <a:solidFill>
            <a:srgbClr val="03506C"/>
          </a:solidFill>
          <a:prstDash val="solid"/>
          <a:bevel/>
          <a:headEnd type="none" w="med" len="med"/>
          <a:tailEnd type="none" w="med" len="med"/>
        </a:ln>
        <a:effectLst/>
      </a:spPr>
      <a:bodyPr vert="horz" wrap="square" lIns="45720" tIns="45720" rIns="4572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rgbClr val="595959"/>
            </a:solidFill>
            <a:effectLst/>
            <a:latin typeface="Arial" pitchFamily="34" charset="0"/>
            <a:cs typeface="Arial" pitchFamily="34" charset="0"/>
            <a:sym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25400" cap="flat" cmpd="sng" algn="ctr">
          <a:solidFill>
            <a:srgbClr val="03506C"/>
          </a:solidFill>
          <a:prstDash val="solid"/>
          <a:bevel/>
          <a:headEnd type="none" w="med" len="med"/>
          <a:tailEnd type="none" w="med" len="med"/>
        </a:ln>
        <a:effectLst/>
      </a:spPr>
      <a:bodyPr vert="horz" wrap="square" lIns="45720" tIns="45720" rIns="4572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rgbClr val="595959"/>
            </a:solidFill>
            <a:effectLst/>
            <a:latin typeface="Arial" pitchFamily="34" charset="0"/>
            <a:cs typeface="Arial" pitchFamily="34" charset="0"/>
            <a:sym typeface="Arial" pitchFamily="34" charset="0"/>
          </a:defRPr>
        </a:defPPr>
      </a:lst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3506C"/>
      </a:accent1>
      <a:accent2>
        <a:srgbClr val="707070"/>
      </a:accent2>
      <a:accent3>
        <a:srgbClr val="FFFFFF"/>
      </a:accent3>
      <a:accent4>
        <a:srgbClr val="000000"/>
      </a:accent4>
      <a:accent5>
        <a:srgbClr val="AAB3BA"/>
      </a:accent5>
      <a:accent6>
        <a:srgbClr val="656565"/>
      </a:accent6>
      <a:hlink>
        <a:srgbClr val="0000FF"/>
      </a:hlink>
      <a:folHlink>
        <a:srgbClr val="FF00F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8607</TotalTime>
  <Words>405</Words>
  <Application>Microsoft Office PowerPoint</Application>
  <PresentationFormat>Widescreen</PresentationFormat>
  <Paragraphs>77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Arial</vt:lpstr>
      <vt:lpstr>Arial Black</vt:lpstr>
      <vt:lpstr>Arial Bold</vt:lpstr>
      <vt:lpstr>Avenir Roman</vt:lpstr>
      <vt:lpstr>Default - Default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 Heater Performance Test</dc:title>
  <dc:creator>mehul</dc:creator>
  <cp:lastModifiedBy>Yash Jagtap</cp:lastModifiedBy>
  <cp:revision>943</cp:revision>
  <dcterms:modified xsi:type="dcterms:W3CDTF">2026-10-01T04:33:08Z</dcterms:modified>
</cp:coreProperties>
</file>