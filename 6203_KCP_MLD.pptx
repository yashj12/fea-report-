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W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8350" y="1242060"/>
            <a:ext cx="8255000" cy="1016000"/>
          </a:xfrm>
        </p:spPr>
        <p:txBody>
          <a:bodyPr wrap="square" lIns="0" tIns="0" rIns="0" bIns="0" anchor="t">
            <a:noAutofit/>
          </a:bodyPr>
          <a:lstStyle>
            <a:lvl1pPr algn="l">
              <a:lnSpc>
                <a:spcPts val="3600"/>
              </a:lnSpc>
              <a:defRPr sz="3000" b="1">
                <a:solidFill>
                  <a:srgbClr val="1B304E"/>
                </a:solidFill>
                <a:latin typeface="Arial"/>
                <a:cs typeface="Arial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pic>
        <p:nvPicPr>
          <p:cNvPr id="3" name="Corner triangl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15600" y="1799844"/>
            <a:ext cx="1676400" cy="5067300"/>
          </a:xfrm>
          <a:prstGeom prst="rect">
            <a:avLst/>
          </a:prstGeom>
        </p:spPr>
      </p:pic>
      <p:pic>
        <p:nvPicPr>
          <p:cNvPr id="4" name="Mech Well logo (small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87912" y="12192"/>
            <a:ext cx="704088" cy="705612"/>
          </a:xfrm>
          <a:prstGeom prst="rect">
            <a:avLst/>
          </a:prstGeom>
        </p:spPr>
      </p:pic>
      <p:pic>
        <p:nvPicPr>
          <p:cNvPr id="5" name="Top bar shadow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41148" y="-19812"/>
            <a:ext cx="12269724" cy="170688"/>
          </a:xfrm>
          <a:prstGeom prst="rect">
            <a:avLst/>
          </a:prstGeom>
        </p:spPr>
      </p:pic>
      <p:sp>
        <p:nvSpPr>
          <p:cNvPr id="6" name="Top bar"/>
          <p:cNvSpPr/>
          <p:nvPr userDrawn="1"/>
        </p:nvSpPr>
        <p:spPr>
          <a:xfrm>
            <a:off x="0" y="0"/>
            <a:ext cx="12192000" cy="90170"/>
          </a:xfrm>
          <a:prstGeom prst="rect">
            <a:avLst/>
          </a:prstGeom>
          <a:solidFill>
            <a:srgbClr val="2A6FA6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7" name="Mech Well logo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800088" y="3977640"/>
            <a:ext cx="4139184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W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6910" y="394970"/>
            <a:ext cx="10160000" cy="457200"/>
          </a:xfrm>
        </p:spPr>
        <p:txBody>
          <a:bodyPr wrap="square" lIns="0" tIns="0" rIns="0" bIns="0" anchor="t">
            <a:noAutofit/>
          </a:bodyPr>
          <a:lstStyle>
            <a:lvl1pPr algn="l">
              <a:defRPr sz="2500" b="1">
                <a:solidFill>
                  <a:srgbClr val="1B304E"/>
                </a:solidFill>
                <a:latin typeface="Arial"/>
                <a:cs typeface="Arial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pic>
        <p:nvPicPr>
          <p:cNvPr id="3" name="Corner triangl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15600" y="1799844"/>
            <a:ext cx="1676400" cy="5067300"/>
          </a:xfrm>
          <a:prstGeom prst="rect">
            <a:avLst/>
          </a:prstGeom>
        </p:spPr>
      </p:pic>
      <p:pic>
        <p:nvPicPr>
          <p:cNvPr id="4" name="Mech Well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87912" y="12192"/>
            <a:ext cx="704088" cy="705612"/>
          </a:xfrm>
          <a:prstGeom prst="rect">
            <a:avLst/>
          </a:prstGeom>
        </p:spPr>
      </p:pic>
      <p:pic>
        <p:nvPicPr>
          <p:cNvPr id="5" name="Title rule shadow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97408" y="894588"/>
            <a:ext cx="10962132" cy="112776"/>
          </a:xfrm>
          <a:prstGeom prst="rect">
            <a:avLst/>
          </a:prstGeom>
        </p:spPr>
      </p:pic>
      <p:sp>
        <p:nvSpPr>
          <p:cNvPr id="6" name="Title rule"/>
          <p:cNvSpPr/>
          <p:nvPr userDrawn="1"/>
        </p:nvSpPr>
        <p:spPr>
          <a:xfrm>
            <a:off x="640080" y="914400"/>
            <a:ext cx="10881360" cy="31750"/>
          </a:xfrm>
          <a:prstGeom prst="rect">
            <a:avLst/>
          </a:prstGeom>
          <a:solidFill>
            <a:srgbClr val="2A6FA6"/>
          </a:solidFill>
          <a:ln>
            <a:noFill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ts val="3600"/>
              </a:lnSpc>
            </a:pPr>
            <a:r>
              <a:rPr lang="en-US" sz="3000" b="1" i="0">
                <a:solidFill>
                  <a:srgbClr val="1B304E"/>
                </a:solidFill>
                <a:latin typeface="Arial"/>
              </a:rPr>
              <a:t>Static Structural Analysis Of MLD Blade</a:t>
            </a:r>
          </a:p>
        </p:txBody>
      </p:sp>
      <p:sp>
        <p:nvSpPr>
          <p:cNvPr id="3" name="Report label"/>
          <p:cNvSpPr txBox="1"/>
          <p:nvPr/>
        </p:nvSpPr>
        <p:spPr>
          <a:xfrm>
            <a:off x="768350" y="791210"/>
            <a:ext cx="3810000" cy="228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lang="en-US" sz="1200" b="1" i="0">
                <a:solidFill>
                  <a:srgbClr val="2A6FA6"/>
                </a:solidFill>
                <a:latin typeface="Arial"/>
              </a:rPr>
              <a:t>FEA REPORT</a:t>
            </a:r>
          </a:p>
        </p:txBody>
      </p:sp>
      <p:sp>
        <p:nvSpPr>
          <p:cNvPr id="4" name="Report No"/>
          <p:cNvSpPr txBox="1"/>
          <p:nvPr/>
        </p:nvSpPr>
        <p:spPr>
          <a:xfrm>
            <a:off x="768350" y="1873250"/>
            <a:ext cx="7112000" cy="25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lang="en-US" sz="1500" b="0" i="0">
                <a:solidFill>
                  <a:srgbClr val="5F6973"/>
                </a:solidFill>
                <a:latin typeface="Arial"/>
              </a:rPr>
              <a:t>Report No.: MWI/FEA/ACK-6203/01</a:t>
            </a:r>
          </a:p>
        </p:txBody>
      </p:sp>
      <p:sp>
        <p:nvSpPr>
          <p:cNvPr id="5" name="Date"/>
          <p:cNvSpPr txBox="1"/>
          <p:nvPr/>
        </p:nvSpPr>
        <p:spPr>
          <a:xfrm>
            <a:off x="768350" y="2287270"/>
            <a:ext cx="7112000" cy="25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lang="en-US" sz="1500" b="0" i="0">
                <a:solidFill>
                  <a:srgbClr val="5F6973"/>
                </a:solidFill>
                <a:latin typeface="Arial"/>
              </a:rPr>
              <a:t>Date: 1st Oct 2026</a:t>
            </a:r>
          </a:p>
        </p:txBody>
      </p:sp>
      <p:sp>
        <p:nvSpPr>
          <p:cNvPr id="6" name="Client"/>
          <p:cNvSpPr txBox="1"/>
          <p:nvPr/>
        </p:nvSpPr>
        <p:spPr>
          <a:xfrm>
            <a:off x="768350" y="2787650"/>
            <a:ext cx="7112000" cy="228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lang="en-US" sz="1200" b="1" i="0" dirty="0">
                <a:solidFill>
                  <a:srgbClr val="5F6973"/>
                </a:solidFill>
                <a:latin typeface="Arial"/>
              </a:rPr>
              <a:t>Client: </a:t>
            </a:r>
            <a:endParaRPr lang="en-US" sz="900" b="1" i="0" dirty="0">
              <a:solidFill>
                <a:srgbClr val="595959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500" b="1" i="0">
                <a:solidFill>
                  <a:srgbClr val="1B304E"/>
                </a:solidFill>
                <a:latin typeface="Arial"/>
              </a:rPr>
              <a:t>1. Material Properties</a:t>
            </a:r>
          </a:p>
        </p:txBody>
      </p:sp>
      <p:graphicFrame>
        <p:nvGraphicFramePr>
          <p:cNvPr id="3" name="Material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1936212"/>
              </p:ext>
            </p:extLst>
          </p:nvPr>
        </p:nvGraphicFramePr>
        <p:xfrm>
          <a:off x="640080" y="1417320"/>
          <a:ext cx="10881360" cy="155448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>
                          <a:solidFill>
                            <a:srgbClr val="FFFFFF"/>
                          </a:solidFill>
                          <a:latin typeface="Arial"/>
                        </a:rPr>
                        <a:t>Material</a:t>
                      </a:r>
                    </a:p>
                  </a:txBody>
                  <a:tcPr marT="5461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0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>
                          <a:solidFill>
                            <a:srgbClr val="FFFFFF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T="5461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0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>
                          <a:solidFill>
                            <a:srgbClr val="FFFFFF"/>
                          </a:solidFill>
                          <a:latin typeface="Arial"/>
                        </a:rPr>
                        <a:t>Young's Modulus</a:t>
                      </a:r>
                    </a:p>
                    <a:p>
                      <a:pPr algn="ctr"/>
                      <a:r>
                        <a:rPr lang="en-US" sz="900" b="1" i="0">
                          <a:solidFill>
                            <a:srgbClr val="FFFFFF"/>
                          </a:solidFill>
                          <a:latin typeface="Arial"/>
                        </a:rPr>
                        <a:t>(MPa)</a:t>
                      </a:r>
                    </a:p>
                  </a:txBody>
                  <a:tcPr marT="5461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0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>
                          <a:solidFill>
                            <a:srgbClr val="FFFFFF"/>
                          </a:solidFill>
                          <a:latin typeface="Arial"/>
                        </a:rPr>
                        <a:t>Poisson's</a:t>
                      </a:r>
                    </a:p>
                    <a:p>
                      <a:pPr algn="ctr"/>
                      <a:r>
                        <a:rPr lang="en-US" sz="900" b="1" i="0">
                          <a:solidFill>
                            <a:srgbClr val="FFFFFF"/>
                          </a:solidFill>
                          <a:latin typeface="Arial"/>
                        </a:rPr>
                        <a:t>Ratio</a:t>
                      </a:r>
                    </a:p>
                  </a:txBody>
                  <a:tcPr marT="5461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0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>
                          <a:solidFill>
                            <a:srgbClr val="FFFFFF"/>
                          </a:solidFill>
                          <a:latin typeface="Arial"/>
                        </a:rPr>
                        <a:t>Density</a:t>
                      </a:r>
                    </a:p>
                    <a:p>
                      <a:pPr algn="ctr"/>
                      <a:r>
                        <a:rPr lang="en-US" sz="900" b="1" i="0">
                          <a:solidFill>
                            <a:srgbClr val="FFFFFF"/>
                          </a:solidFill>
                          <a:latin typeface="Arial"/>
                        </a:rPr>
                        <a:t>(t/mm³)</a:t>
                      </a:r>
                    </a:p>
                  </a:txBody>
                  <a:tcPr marT="5461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0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>
                          <a:solidFill>
                            <a:srgbClr val="FFFFFF"/>
                          </a:solidFill>
                          <a:latin typeface="Arial"/>
                        </a:rPr>
                        <a:t>Yield Stress</a:t>
                      </a:r>
                    </a:p>
                    <a:p>
                      <a:pPr algn="ctr"/>
                      <a:r>
                        <a:rPr lang="en-US" sz="900" b="1" i="0">
                          <a:solidFill>
                            <a:srgbClr val="FFFFFF"/>
                          </a:solidFill>
                          <a:latin typeface="Arial"/>
                        </a:rPr>
                        <a:t>(MPa)</a:t>
                      </a:r>
                    </a:p>
                  </a:txBody>
                  <a:tcPr marT="5461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0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>
                          <a:solidFill>
                            <a:srgbClr val="FFFFFF"/>
                          </a:solidFill>
                          <a:latin typeface="Arial"/>
                        </a:rPr>
                        <a:t>Allowable Von-Mises</a:t>
                      </a:r>
                    </a:p>
                    <a:p>
                      <a:pPr algn="ctr"/>
                      <a:r>
                        <a:rPr lang="en-US" sz="900" b="1" i="0">
                          <a:solidFill>
                            <a:srgbClr val="FFFFFF"/>
                          </a:solidFill>
                          <a:latin typeface="Arial"/>
                        </a:rPr>
                        <a:t>Stress (MPa)</a:t>
                      </a:r>
                    </a:p>
                  </a:txBody>
                  <a:tcPr marT="5461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0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dirty="0" smtClean="0">
                          <a:solidFill>
                            <a:srgbClr val="23282D"/>
                          </a:solidFill>
                          <a:latin typeface="Arial"/>
                        </a:rPr>
                        <a:t>BHN</a:t>
                      </a:r>
                      <a:r>
                        <a:rPr lang="en-US" sz="1100" b="0" i="0" baseline="0" dirty="0" smtClean="0">
                          <a:solidFill>
                            <a:srgbClr val="23282D"/>
                          </a:solidFill>
                          <a:latin typeface="Arial"/>
                        </a:rPr>
                        <a:t> 400</a:t>
                      </a:r>
                      <a:endParaRPr lang="en-US" sz="1100" b="0" i="0" dirty="0">
                        <a:solidFill>
                          <a:srgbClr val="23282D"/>
                        </a:solidFill>
                        <a:latin typeface="Arial"/>
                      </a:endParaRPr>
                    </a:p>
                  </a:txBody>
                  <a:tcPr marT="5461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dirty="0" smtClean="0">
                          <a:solidFill>
                            <a:srgbClr val="23282D"/>
                          </a:solidFill>
                          <a:latin typeface="Arial"/>
                        </a:rPr>
                        <a:t>Blade</a:t>
                      </a:r>
                      <a:endParaRPr lang="en-US" sz="1100" b="0" i="0" dirty="0">
                        <a:solidFill>
                          <a:srgbClr val="23282D"/>
                        </a:solidFill>
                        <a:latin typeface="Arial"/>
                      </a:endParaRPr>
                    </a:p>
                  </a:txBody>
                  <a:tcPr marT="5461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dirty="0" smtClean="0">
                          <a:solidFill>
                            <a:srgbClr val="23282D"/>
                          </a:solidFill>
                          <a:latin typeface="Arial"/>
                        </a:rPr>
                        <a:t>170000</a:t>
                      </a:r>
                      <a:endParaRPr lang="en-US" sz="1100" b="0" i="0" dirty="0">
                        <a:solidFill>
                          <a:srgbClr val="23282D"/>
                        </a:solidFill>
                        <a:latin typeface="Arial"/>
                      </a:endParaRPr>
                    </a:p>
                  </a:txBody>
                  <a:tcPr marT="5461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>
                          <a:solidFill>
                            <a:srgbClr val="23282D"/>
                          </a:solidFill>
                          <a:latin typeface="Arial"/>
                        </a:rPr>
                        <a:t>0.3</a:t>
                      </a:r>
                    </a:p>
                  </a:txBody>
                  <a:tcPr marT="5461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>
                          <a:solidFill>
                            <a:srgbClr val="23282D"/>
                          </a:solidFill>
                          <a:latin typeface="Arial"/>
                        </a:rPr>
                        <a:t>7.8E-9</a:t>
                      </a:r>
                    </a:p>
                  </a:txBody>
                  <a:tcPr marT="5461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dirty="0">
                          <a:solidFill>
                            <a:srgbClr val="23282D"/>
                          </a:solidFill>
                          <a:latin typeface="Arial"/>
                        </a:rPr>
                        <a:t>380</a:t>
                      </a:r>
                    </a:p>
                  </a:txBody>
                  <a:tcPr marT="5461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i="0" dirty="0">
                          <a:solidFill>
                            <a:srgbClr val="23282D"/>
                          </a:solidFill>
                          <a:latin typeface="Arial"/>
                        </a:rPr>
                        <a:t>292</a:t>
                      </a:r>
                    </a:p>
                  </a:txBody>
                  <a:tcPr marT="5461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Units"/>
          <p:cNvSpPr txBox="1"/>
          <p:nvPr/>
        </p:nvSpPr>
        <p:spPr>
          <a:xfrm>
            <a:off x="768350" y="3350260"/>
            <a:ext cx="10414000" cy="25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lang="en-US" sz="1400" b="0" i="0">
                <a:solidFill>
                  <a:srgbClr val="23282D"/>
                </a:solidFill>
                <a:latin typeface="Arial"/>
              </a:rPr>
              <a:t>Units: Length = mm, Mass = tonnes, Time = second, Force = Newton</a:t>
            </a:r>
          </a:p>
        </p:txBody>
      </p:sp>
      <p:sp>
        <p:nvSpPr>
          <p:cNvPr id="5" name="Formula label"/>
          <p:cNvSpPr txBox="1"/>
          <p:nvPr/>
        </p:nvSpPr>
        <p:spPr>
          <a:xfrm>
            <a:off x="768350" y="3900170"/>
            <a:ext cx="7620000" cy="254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lang="en-US" sz="1400" b="1" i="0">
                <a:solidFill>
                  <a:srgbClr val="1B304E"/>
                </a:solidFill>
                <a:latin typeface="Arial"/>
              </a:rPr>
              <a:t>Allowable Von-Mises Stress:</a:t>
            </a:r>
          </a:p>
        </p:txBody>
      </p:sp>
      <p:sp>
        <p:nvSpPr>
          <p:cNvPr id="6" name="Formula"/>
          <p:cNvSpPr txBox="1"/>
          <p:nvPr/>
        </p:nvSpPr>
        <p:spPr>
          <a:xfrm>
            <a:off x="768350" y="4309110"/>
            <a:ext cx="2794000" cy="355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lang="en-US" sz="2000" b="1" i="0">
                <a:solidFill>
                  <a:srgbClr val="23282D"/>
                </a:solidFill>
                <a:latin typeface="Arial"/>
              </a:rPr>
              <a:t>σall = Syt / FOS</a:t>
            </a:r>
          </a:p>
        </p:txBody>
      </p:sp>
      <p:sp>
        <p:nvSpPr>
          <p:cNvPr id="7" name="FOS"/>
          <p:cNvSpPr txBox="1"/>
          <p:nvPr/>
        </p:nvSpPr>
        <p:spPr>
          <a:xfrm>
            <a:off x="3420110" y="4330700"/>
            <a:ext cx="3810000" cy="279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lang="en-US" sz="1500" b="1" i="0">
                <a:solidFill>
                  <a:srgbClr val="2A6FA6"/>
                </a:solidFill>
                <a:latin typeface="Arial"/>
              </a:rPr>
              <a:t>FOS = 1.3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500" b="1" i="0">
                <a:solidFill>
                  <a:srgbClr val="1B304E"/>
                </a:solidFill>
                <a:latin typeface="Arial"/>
              </a:rPr>
              <a:t>2. Blade Geometry</a:t>
            </a:r>
          </a:p>
        </p:txBody>
      </p:sp>
      <p:sp>
        <p:nvSpPr>
          <p:cNvPr id="3" name="Top view heading"/>
          <p:cNvSpPr txBox="1"/>
          <p:nvPr/>
        </p:nvSpPr>
        <p:spPr>
          <a:xfrm>
            <a:off x="685800" y="2035048"/>
            <a:ext cx="5308600" cy="304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1800" b="1" i="0">
                <a:solidFill>
                  <a:srgbClr val="023C51"/>
                </a:solidFill>
                <a:latin typeface="Arial"/>
              </a:rPr>
              <a:t>Top view</a:t>
            </a:r>
          </a:p>
        </p:txBody>
      </p:sp>
      <p:pic>
        <p:nvPicPr>
          <p:cNvPr id="4" name="Top view" descr="Geometry of the Blade - Top 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22068"/>
            <a:ext cx="5308600" cy="3046637"/>
          </a:xfrm>
          <a:prstGeom prst="rect">
            <a:avLst/>
          </a:prstGeom>
        </p:spPr>
      </p:pic>
      <p:sp>
        <p:nvSpPr>
          <p:cNvPr id="5" name="Bottom view heading"/>
          <p:cNvSpPr txBox="1"/>
          <p:nvPr/>
        </p:nvSpPr>
        <p:spPr>
          <a:xfrm>
            <a:off x="6197600" y="2035048"/>
            <a:ext cx="5308600" cy="304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1800" b="1" i="0">
                <a:solidFill>
                  <a:srgbClr val="023C51"/>
                </a:solidFill>
                <a:latin typeface="Arial"/>
              </a:rPr>
              <a:t>Bottom view</a:t>
            </a:r>
          </a:p>
        </p:txBody>
      </p:sp>
      <p:pic>
        <p:nvPicPr>
          <p:cNvPr id="6" name="Bottom view" descr="Geometry of the Blade - Bottom vie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7151" y="2322068"/>
            <a:ext cx="4849498" cy="3059683"/>
          </a:xfrm>
          <a:prstGeom prst="rect">
            <a:avLst/>
          </a:prstGeom>
        </p:spPr>
      </p:pic>
      <p:cxnSp>
        <p:nvCxnSpPr>
          <p:cNvPr id="7" name="Divider"/>
          <p:cNvCxnSpPr/>
          <p:nvPr/>
        </p:nvCxnSpPr>
        <p:spPr>
          <a:xfrm>
            <a:off x="6097270" y="1159510"/>
            <a:ext cx="0" cy="5622290"/>
          </a:xfrm>
          <a:prstGeom prst="line">
            <a:avLst/>
          </a:prstGeom>
          <a:ln w="25908">
            <a:solidFill>
              <a:srgbClr val="0350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500" b="1" i="0">
                <a:solidFill>
                  <a:srgbClr val="1B304E"/>
                </a:solidFill>
                <a:latin typeface="Arial"/>
              </a:rPr>
              <a:t>3. Blade Mesh</a:t>
            </a:r>
          </a:p>
        </p:txBody>
      </p:sp>
      <p:pic>
        <p:nvPicPr>
          <p:cNvPr id="3" name="3. Blade Mesh" descr="Finite element mesh of the Bla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700" y="1172956"/>
            <a:ext cx="9118600" cy="52042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500" b="1" i="0">
                <a:solidFill>
                  <a:srgbClr val="1B304E"/>
                </a:solidFill>
                <a:latin typeface="Arial"/>
              </a:rPr>
              <a:t>Case 1: Pressure Only </a:t>
            </a:r>
            <a:r>
              <a:rPr lang="en-US" sz="1600" b="1" i="0">
                <a:solidFill>
                  <a:srgbClr val="1B304E"/>
                </a:solidFill>
                <a:latin typeface="Arial"/>
              </a:rPr>
              <a:t>(Self Weight + Pressure)</a:t>
            </a:r>
          </a:p>
        </p:txBody>
      </p:sp>
      <p:pic>
        <p:nvPicPr>
          <p:cNvPr id="3" name="Case 1 boundary conditions" descr="Boundary conditions - Pressure Onl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782116"/>
            <a:ext cx="6858000" cy="3687467"/>
          </a:xfrm>
          <a:prstGeom prst="rect">
            <a:avLst/>
          </a:prstGeom>
        </p:spPr>
      </p:pic>
      <p:sp>
        <p:nvSpPr>
          <p:cNvPr id="4" name="BC heading"/>
          <p:cNvSpPr txBox="1"/>
          <p:nvPr/>
        </p:nvSpPr>
        <p:spPr>
          <a:xfrm>
            <a:off x="7239000" y="1975156"/>
            <a:ext cx="4762500" cy="279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lang="en-US" sz="1600" b="1" i="0">
                <a:solidFill>
                  <a:srgbClr val="1B304E"/>
                </a:solidFill>
                <a:latin typeface="Arial"/>
              </a:rPr>
              <a:t>Boundary Conditions</a:t>
            </a:r>
          </a:p>
        </p:txBody>
      </p:sp>
      <p:sp>
        <p:nvSpPr>
          <p:cNvPr id="5" name="BC list"/>
          <p:cNvSpPr txBox="1"/>
          <p:nvPr/>
        </p:nvSpPr>
        <p:spPr>
          <a:xfrm>
            <a:off x="7399020" y="2361236"/>
            <a:ext cx="4602480" cy="15303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lnSpc>
                <a:spcPts val="1770"/>
              </a:lnSpc>
              <a:spcAft>
                <a:spcPts val="800"/>
              </a:spcAft>
              <a:buFont typeface="Arial"/>
              <a:buAutoNum type="alphaUcPeriod"/>
            </a:pPr>
            <a:r>
              <a:rPr lang="en-US" sz="1400" b="0" i="0">
                <a:solidFill>
                  <a:srgbClr val="23282D"/>
                </a:solidFill>
                <a:latin typeface="Arial"/>
              </a:rPr>
              <a:t>Design pressure 1000 mmWC applied which is 0.00981 MPa.</a:t>
            </a:r>
          </a:p>
          <a:p>
            <a:pPr marL="342900" indent="-342900">
              <a:lnSpc>
                <a:spcPts val="1770"/>
              </a:lnSpc>
              <a:spcAft>
                <a:spcPts val="800"/>
              </a:spcAft>
              <a:buFont typeface="Arial"/>
              <a:buAutoNum type="alphaUcPeriod"/>
            </a:pPr>
            <a:r>
              <a:rPr lang="en-US" sz="1400" b="0" i="0">
                <a:solidFill>
                  <a:srgbClr val="23282D"/>
                </a:solidFill>
                <a:latin typeface="Arial"/>
              </a:rPr>
              <a:t>Self weight considered.</a:t>
            </a:r>
          </a:p>
          <a:p>
            <a:pPr marL="342900" indent="-342900">
              <a:lnSpc>
                <a:spcPts val="1770"/>
              </a:lnSpc>
              <a:spcAft>
                <a:spcPts val="800"/>
              </a:spcAft>
              <a:buFont typeface="Arial"/>
              <a:buAutoNum type="alphaUcPeriod"/>
            </a:pPr>
            <a:r>
              <a:rPr lang="en-US" sz="1400" b="0" i="0">
                <a:solidFill>
                  <a:srgbClr val="23282D"/>
                </a:solidFill>
                <a:latin typeface="Arial"/>
              </a:rPr>
              <a:t>Fixed support applied on the left shaft.</a:t>
            </a:r>
          </a:p>
          <a:p>
            <a:pPr marL="342900" indent="-342900">
              <a:lnSpc>
                <a:spcPts val="1770"/>
              </a:lnSpc>
              <a:spcAft>
                <a:spcPts val="0"/>
              </a:spcAft>
              <a:buFont typeface="Arial"/>
              <a:buAutoNum type="alphaUcPeriod"/>
            </a:pPr>
            <a:r>
              <a:rPr lang="en-US" sz="1400" b="0" i="0">
                <a:solidFill>
                  <a:srgbClr val="23282D"/>
                </a:solidFill>
                <a:latin typeface="Arial"/>
              </a:rPr>
              <a:t>Fixed support applied on the right shaft.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500" b="1" i="0">
                <a:solidFill>
                  <a:srgbClr val="1B304E"/>
                </a:solidFill>
                <a:latin typeface="Arial"/>
              </a:rPr>
              <a:t>Case 1: Results</a:t>
            </a:r>
          </a:p>
        </p:txBody>
      </p:sp>
      <p:sp>
        <p:nvSpPr>
          <p:cNvPr id="3" name="Total deformation heading"/>
          <p:cNvSpPr txBox="1"/>
          <p:nvPr/>
        </p:nvSpPr>
        <p:spPr>
          <a:xfrm>
            <a:off x="685800" y="1941932"/>
            <a:ext cx="5308600" cy="304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1800" b="1" i="0">
                <a:solidFill>
                  <a:srgbClr val="023C51"/>
                </a:solidFill>
                <a:latin typeface="Arial"/>
              </a:rPr>
              <a:t>Total deformation</a:t>
            </a:r>
          </a:p>
        </p:txBody>
      </p:sp>
      <p:pic>
        <p:nvPicPr>
          <p:cNvPr id="4" name="Total deformation" descr="Total deformation contour pl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343" y="2228952"/>
            <a:ext cx="5255514" cy="2891840"/>
          </a:xfrm>
          <a:prstGeom prst="rect">
            <a:avLst/>
          </a:prstGeom>
        </p:spPr>
      </p:pic>
      <p:sp>
        <p:nvSpPr>
          <p:cNvPr id="5" name="Total deformation caption"/>
          <p:cNvSpPr txBox="1"/>
          <p:nvPr/>
        </p:nvSpPr>
        <p:spPr>
          <a:xfrm>
            <a:off x="685800" y="5235092"/>
            <a:ext cx="5308600" cy="2651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600" b="1" i="0">
                <a:solidFill>
                  <a:srgbClr val="1B304E"/>
                </a:solidFill>
                <a:latin typeface="Arial"/>
              </a:rPr>
              <a:t>Maximum Total Deformation – 0.085 mm</a:t>
            </a:r>
          </a:p>
        </p:txBody>
      </p:sp>
      <p:sp>
        <p:nvSpPr>
          <p:cNvPr id="6" name="Von-mises stress heading"/>
          <p:cNvSpPr txBox="1"/>
          <p:nvPr/>
        </p:nvSpPr>
        <p:spPr>
          <a:xfrm>
            <a:off x="6197600" y="1941932"/>
            <a:ext cx="5308600" cy="304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1800" b="1" i="0">
                <a:solidFill>
                  <a:srgbClr val="023C51"/>
                </a:solidFill>
                <a:latin typeface="Arial"/>
              </a:rPr>
              <a:t>Von-mises stress</a:t>
            </a:r>
          </a:p>
        </p:txBody>
      </p:sp>
      <p:pic>
        <p:nvPicPr>
          <p:cNvPr id="7" name="Von-mises stress" descr="Von-mises stress contour pl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2446" y="2228952"/>
            <a:ext cx="5218908" cy="2834317"/>
          </a:xfrm>
          <a:prstGeom prst="rect">
            <a:avLst/>
          </a:prstGeom>
        </p:spPr>
      </p:pic>
      <p:sp>
        <p:nvSpPr>
          <p:cNvPr id="8" name="Von-mises stress caption"/>
          <p:cNvSpPr txBox="1"/>
          <p:nvPr/>
        </p:nvSpPr>
        <p:spPr>
          <a:xfrm>
            <a:off x="6451600" y="5235092"/>
            <a:ext cx="4800600" cy="2651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400" b="1" i="0">
                <a:solidFill>
                  <a:srgbClr val="23282D"/>
                </a:solidFill>
                <a:latin typeface="Arial"/>
              </a:rPr>
              <a:t>The stress is within the materials</a:t>
            </a:r>
            <a:r>
              <a:t/>
            </a:r>
            <a:br/>
            <a:r>
              <a:rPr lang="en-US" sz="1400" b="1" i="0">
                <a:solidFill>
                  <a:srgbClr val="23282D"/>
                </a:solidFill>
                <a:latin typeface="Arial"/>
              </a:rPr>
              <a:t>allowable limit of 292 MPa.</a:t>
            </a:r>
          </a:p>
        </p:txBody>
      </p:sp>
      <p:cxnSp>
        <p:nvCxnSpPr>
          <p:cNvPr id="9" name="Divider"/>
          <p:cNvCxnSpPr/>
          <p:nvPr/>
        </p:nvCxnSpPr>
        <p:spPr>
          <a:xfrm>
            <a:off x="6097270" y="1159510"/>
            <a:ext cx="0" cy="5622290"/>
          </a:xfrm>
          <a:prstGeom prst="line">
            <a:avLst/>
          </a:prstGeom>
          <a:ln w="25908">
            <a:solidFill>
              <a:srgbClr val="0350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500" b="1" i="0">
                <a:solidFill>
                  <a:srgbClr val="1B304E"/>
                </a:solidFill>
                <a:latin typeface="Arial"/>
              </a:rPr>
              <a:t>Case 1: Observation &amp; Summary</a:t>
            </a:r>
          </a:p>
        </p:txBody>
      </p:sp>
      <p:sp>
        <p:nvSpPr>
          <p:cNvPr id="3" name="Observations"/>
          <p:cNvSpPr txBox="1"/>
          <p:nvPr/>
        </p:nvSpPr>
        <p:spPr>
          <a:xfrm>
            <a:off x="763270" y="1249680"/>
            <a:ext cx="10160000" cy="25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52400" indent="-152400">
              <a:lnSpc>
                <a:spcPts val="2150"/>
              </a:lnSpc>
              <a:spcAft>
                <a:spcPts val="800"/>
              </a:spcAft>
              <a:buFont typeface="Arial"/>
              <a:buChar char="•"/>
            </a:pPr>
            <a:r>
              <a:rPr lang="en-US" sz="1700" b="0" i="0">
                <a:solidFill>
                  <a:srgbClr val="23282D"/>
                </a:solidFill>
                <a:latin typeface="Arial"/>
              </a:rPr>
              <a:t>Total deformation in the Blade is 0.085 mm.</a:t>
            </a:r>
          </a:p>
          <a:p>
            <a:pPr marL="152400" indent="-152400">
              <a:lnSpc>
                <a:spcPts val="2150"/>
              </a:lnSpc>
              <a:spcAft>
                <a:spcPts val="800"/>
              </a:spcAft>
              <a:buFont typeface="Arial"/>
              <a:buChar char="•"/>
            </a:pPr>
            <a:r>
              <a:rPr lang="en-US" sz="1700" b="0" i="0">
                <a:solidFill>
                  <a:srgbClr val="23282D"/>
                </a:solidFill>
                <a:latin typeface="Arial"/>
              </a:rPr>
              <a:t>Von-Mises stress in the Blade (74.2 MPa) is within the materials allowable stress limit of 292 MPa.</a:t>
            </a:r>
          </a:p>
          <a:p>
            <a:pPr marL="152400" indent="-152400">
              <a:lnSpc>
                <a:spcPts val="2150"/>
              </a:lnSpc>
              <a:spcAft>
                <a:spcPts val="800"/>
              </a:spcAft>
              <a:buFont typeface="Arial"/>
              <a:buChar char="•"/>
            </a:pPr>
            <a:r>
              <a:rPr lang="en-US" sz="1700" b="0" i="0">
                <a:solidFill>
                  <a:srgbClr val="23282D"/>
                </a:solidFill>
                <a:latin typeface="Arial"/>
              </a:rPr>
              <a:t>Therefore, the Blade is structurally adequate to withstand the applied load under this load case.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500" b="1" i="0">
                <a:solidFill>
                  <a:srgbClr val="1B304E"/>
                </a:solidFill>
                <a:latin typeface="Arial"/>
              </a:rPr>
              <a:t>Case 2: Pressure + Moment </a:t>
            </a:r>
            <a:r>
              <a:rPr lang="en-US" sz="1600" b="1" i="0">
                <a:solidFill>
                  <a:srgbClr val="1B304E"/>
                </a:solidFill>
                <a:latin typeface="Arial"/>
              </a:rPr>
              <a:t>(Self Weight + Pressure + Moment)</a:t>
            </a:r>
          </a:p>
        </p:txBody>
      </p:sp>
      <p:pic>
        <p:nvPicPr>
          <p:cNvPr id="3" name="Case 2 boundary conditions" descr="Boundary conditions - Pressure + Momen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779201"/>
            <a:ext cx="6858000" cy="3693297"/>
          </a:xfrm>
          <a:prstGeom prst="rect">
            <a:avLst/>
          </a:prstGeom>
        </p:spPr>
      </p:pic>
      <p:sp>
        <p:nvSpPr>
          <p:cNvPr id="4" name="BC heading"/>
          <p:cNvSpPr txBox="1"/>
          <p:nvPr/>
        </p:nvSpPr>
        <p:spPr>
          <a:xfrm>
            <a:off x="7239000" y="1972241"/>
            <a:ext cx="4762500" cy="279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lang="en-US" sz="1600" b="1" i="0">
                <a:solidFill>
                  <a:srgbClr val="1B304E"/>
                </a:solidFill>
                <a:latin typeface="Arial"/>
              </a:rPr>
              <a:t>Boundary Conditions</a:t>
            </a:r>
          </a:p>
        </p:txBody>
      </p:sp>
      <p:sp>
        <p:nvSpPr>
          <p:cNvPr id="5" name="BC list"/>
          <p:cNvSpPr txBox="1"/>
          <p:nvPr/>
        </p:nvSpPr>
        <p:spPr>
          <a:xfrm>
            <a:off x="7399020" y="2358321"/>
            <a:ext cx="4284980" cy="2407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342900" indent="-342900">
              <a:lnSpc>
                <a:spcPts val="1770"/>
              </a:lnSpc>
              <a:spcAft>
                <a:spcPts val="800"/>
              </a:spcAft>
              <a:buFont typeface="Arial"/>
              <a:buAutoNum type="alphaUcPeriod"/>
            </a:pPr>
            <a:r>
              <a:rPr lang="en-US" sz="1400" b="0" i="0">
                <a:solidFill>
                  <a:srgbClr val="23282D"/>
                </a:solidFill>
                <a:latin typeface="Arial"/>
              </a:rPr>
              <a:t>Cylindrical support applied on the left shaft.</a:t>
            </a:r>
          </a:p>
          <a:p>
            <a:pPr marL="342900" indent="-342900">
              <a:lnSpc>
                <a:spcPts val="1770"/>
              </a:lnSpc>
              <a:spcAft>
                <a:spcPts val="800"/>
              </a:spcAft>
              <a:buFont typeface="Arial"/>
              <a:buAutoNum type="alphaUcPeriod"/>
            </a:pPr>
            <a:r>
              <a:rPr lang="en-US" sz="1400" b="0" i="0">
                <a:solidFill>
                  <a:srgbClr val="23282D"/>
                </a:solidFill>
                <a:latin typeface="Arial"/>
              </a:rPr>
              <a:t>Design pressure 1000 mmWC applied which is 0.00981 MPa.</a:t>
            </a:r>
          </a:p>
          <a:p>
            <a:pPr marL="342900" indent="-342900">
              <a:lnSpc>
                <a:spcPts val="1770"/>
              </a:lnSpc>
              <a:spcAft>
                <a:spcPts val="800"/>
              </a:spcAft>
              <a:buFont typeface="Arial"/>
              <a:buAutoNum type="alphaUcPeriod"/>
            </a:pPr>
            <a:r>
              <a:rPr lang="en-US" sz="1400" b="0" i="0">
                <a:solidFill>
                  <a:srgbClr val="23282D"/>
                </a:solidFill>
                <a:latin typeface="Arial"/>
              </a:rPr>
              <a:t>Self weight considered.</a:t>
            </a:r>
          </a:p>
          <a:p>
            <a:pPr marL="342900" indent="-342900">
              <a:lnSpc>
                <a:spcPts val="1770"/>
              </a:lnSpc>
              <a:spcAft>
                <a:spcPts val="800"/>
              </a:spcAft>
              <a:buFont typeface="Arial"/>
              <a:buAutoNum type="alphaUcPeriod"/>
            </a:pPr>
            <a:r>
              <a:rPr lang="en-US" sz="1400" b="0" i="0">
                <a:solidFill>
                  <a:srgbClr val="23282D"/>
                </a:solidFill>
                <a:latin typeface="Arial"/>
              </a:rPr>
              <a:t>Moment of 1,000,000 N·mm (1000 N·m) applied at the left shaft end.</a:t>
            </a:r>
          </a:p>
          <a:p>
            <a:pPr marL="342900" indent="-342900">
              <a:lnSpc>
                <a:spcPts val="1770"/>
              </a:lnSpc>
              <a:spcAft>
                <a:spcPts val="800"/>
              </a:spcAft>
              <a:buFont typeface="Arial"/>
              <a:buAutoNum type="alphaUcPeriod"/>
            </a:pPr>
            <a:r>
              <a:rPr lang="en-US" sz="1400" b="0" i="0">
                <a:solidFill>
                  <a:srgbClr val="23282D"/>
                </a:solidFill>
                <a:latin typeface="Arial"/>
              </a:rPr>
              <a:t>Cylindrical support applied on the right shaft.</a:t>
            </a:r>
          </a:p>
          <a:p>
            <a:pPr marL="342900" indent="-342900">
              <a:lnSpc>
                <a:spcPts val="1770"/>
              </a:lnSpc>
              <a:spcAft>
                <a:spcPts val="0"/>
              </a:spcAft>
              <a:buFont typeface="Arial"/>
              <a:buAutoNum type="alphaUcPeriod"/>
            </a:pPr>
            <a:r>
              <a:rPr lang="en-US" sz="1400" b="0" i="0">
                <a:solidFill>
                  <a:srgbClr val="23282D"/>
                </a:solidFill>
                <a:latin typeface="Arial"/>
              </a:rPr>
              <a:t>Fixed support applied at the right shaft end.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500" b="1" i="0">
                <a:solidFill>
                  <a:srgbClr val="1B304E"/>
                </a:solidFill>
                <a:latin typeface="Arial"/>
              </a:rPr>
              <a:t>Case 2: Results</a:t>
            </a:r>
          </a:p>
        </p:txBody>
      </p:sp>
      <p:sp>
        <p:nvSpPr>
          <p:cNvPr id="3" name="Total deformation heading"/>
          <p:cNvSpPr txBox="1"/>
          <p:nvPr/>
        </p:nvSpPr>
        <p:spPr>
          <a:xfrm>
            <a:off x="685800" y="1950056"/>
            <a:ext cx="5308600" cy="304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1800" b="1" i="0">
                <a:solidFill>
                  <a:srgbClr val="023C51"/>
                </a:solidFill>
                <a:latin typeface="Arial"/>
              </a:rPr>
              <a:t>Total deformation</a:t>
            </a:r>
          </a:p>
        </p:txBody>
      </p:sp>
      <p:pic>
        <p:nvPicPr>
          <p:cNvPr id="4" name="Total deformation" descr="Total deformation contour pl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621" y="2237076"/>
            <a:ext cx="5202959" cy="2875592"/>
          </a:xfrm>
          <a:prstGeom prst="rect">
            <a:avLst/>
          </a:prstGeom>
        </p:spPr>
      </p:pic>
      <p:sp>
        <p:nvSpPr>
          <p:cNvPr id="5" name="Total deformation caption"/>
          <p:cNvSpPr txBox="1"/>
          <p:nvPr/>
        </p:nvSpPr>
        <p:spPr>
          <a:xfrm>
            <a:off x="685800" y="5226968"/>
            <a:ext cx="5308600" cy="2651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600" b="1" i="0">
                <a:solidFill>
                  <a:srgbClr val="1B304E"/>
                </a:solidFill>
                <a:latin typeface="Arial"/>
              </a:rPr>
              <a:t>Maximum Total Deformation – 2.42 mm</a:t>
            </a:r>
          </a:p>
        </p:txBody>
      </p:sp>
      <p:sp>
        <p:nvSpPr>
          <p:cNvPr id="6" name="Von-mises stress heading"/>
          <p:cNvSpPr txBox="1"/>
          <p:nvPr/>
        </p:nvSpPr>
        <p:spPr>
          <a:xfrm>
            <a:off x="6197600" y="1950056"/>
            <a:ext cx="5308600" cy="304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ctr"/>
            <a:r>
              <a:rPr lang="en-US" sz="1800" b="1" i="0">
                <a:solidFill>
                  <a:srgbClr val="023C51"/>
                </a:solidFill>
                <a:latin typeface="Arial"/>
              </a:rPr>
              <a:t>Von-mises stress</a:t>
            </a:r>
          </a:p>
        </p:txBody>
      </p:sp>
      <p:pic>
        <p:nvPicPr>
          <p:cNvPr id="7" name="Von-mises stress" descr="Von-mises stress contour pl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866" y="2237076"/>
            <a:ext cx="5146068" cy="2839388"/>
          </a:xfrm>
          <a:prstGeom prst="rect">
            <a:avLst/>
          </a:prstGeom>
        </p:spPr>
      </p:pic>
      <p:sp>
        <p:nvSpPr>
          <p:cNvPr id="8" name="Von-mises stress caption"/>
          <p:cNvSpPr txBox="1"/>
          <p:nvPr/>
        </p:nvSpPr>
        <p:spPr>
          <a:xfrm>
            <a:off x="6451600" y="5226968"/>
            <a:ext cx="4800600" cy="2651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400" b="1" i="0">
                <a:solidFill>
                  <a:srgbClr val="23282D"/>
                </a:solidFill>
                <a:latin typeface="Arial"/>
              </a:rPr>
              <a:t>The stress exceeds the materials</a:t>
            </a:r>
            <a:r>
              <a:t/>
            </a:r>
            <a:br/>
            <a:r>
              <a:rPr lang="en-US" sz="1400" b="1" i="0">
                <a:solidFill>
                  <a:srgbClr val="23282D"/>
                </a:solidFill>
                <a:latin typeface="Arial"/>
              </a:rPr>
              <a:t>allowable limit of 292 MPa.</a:t>
            </a:r>
          </a:p>
        </p:txBody>
      </p:sp>
      <p:cxnSp>
        <p:nvCxnSpPr>
          <p:cNvPr id="9" name="Divider"/>
          <p:cNvCxnSpPr/>
          <p:nvPr/>
        </p:nvCxnSpPr>
        <p:spPr>
          <a:xfrm>
            <a:off x="6097270" y="1159510"/>
            <a:ext cx="0" cy="5622290"/>
          </a:xfrm>
          <a:prstGeom prst="line">
            <a:avLst/>
          </a:prstGeom>
          <a:ln w="25908">
            <a:solidFill>
              <a:srgbClr val="0350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500" b="1" i="0">
                <a:solidFill>
                  <a:srgbClr val="1B304E"/>
                </a:solidFill>
                <a:latin typeface="Arial"/>
              </a:rPr>
              <a:t>Case 2: Observation &amp; Summary</a:t>
            </a:r>
          </a:p>
        </p:txBody>
      </p:sp>
      <p:sp>
        <p:nvSpPr>
          <p:cNvPr id="3" name="Observations"/>
          <p:cNvSpPr txBox="1"/>
          <p:nvPr/>
        </p:nvSpPr>
        <p:spPr>
          <a:xfrm>
            <a:off x="763270" y="1249680"/>
            <a:ext cx="10160000" cy="25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52400" indent="-152400">
              <a:lnSpc>
                <a:spcPts val="2150"/>
              </a:lnSpc>
              <a:spcAft>
                <a:spcPts val="800"/>
              </a:spcAft>
              <a:buFont typeface="Arial"/>
              <a:buChar char="•"/>
            </a:pPr>
            <a:r>
              <a:rPr lang="en-US" sz="1700" b="0" i="0">
                <a:solidFill>
                  <a:srgbClr val="23282D"/>
                </a:solidFill>
                <a:latin typeface="Arial"/>
              </a:rPr>
              <a:t>Total deformation in the Blade is 2.42 mm.</a:t>
            </a:r>
          </a:p>
          <a:p>
            <a:pPr marL="152400" indent="-152400">
              <a:lnSpc>
                <a:spcPts val="2150"/>
              </a:lnSpc>
              <a:spcAft>
                <a:spcPts val="800"/>
              </a:spcAft>
              <a:buFont typeface="Arial"/>
              <a:buChar char="•"/>
            </a:pPr>
            <a:r>
              <a:rPr lang="en-US" sz="1700" b="0" i="0">
                <a:solidFill>
                  <a:srgbClr val="23282D"/>
                </a:solidFill>
                <a:latin typeface="Arial"/>
              </a:rPr>
              <a:t>Von-Mises stress in the Blade exceeds the materials allowable stress limit of 292 MPa.</a:t>
            </a:r>
          </a:p>
          <a:p>
            <a:pPr marL="152400" indent="-152400">
              <a:lnSpc>
                <a:spcPts val="2150"/>
              </a:lnSpc>
              <a:spcAft>
                <a:spcPts val="800"/>
              </a:spcAft>
              <a:buFont typeface="Arial"/>
              <a:buChar char="•"/>
            </a:pPr>
            <a:r>
              <a:rPr lang="en-US" sz="1700" b="0" i="0">
                <a:solidFill>
                  <a:srgbClr val="23282D"/>
                </a:solidFill>
                <a:latin typeface="Arial"/>
              </a:rPr>
              <a:t>Therefore, the Blade is structurally inadequate to withstand the applied load under this load case.</a:t>
            </a:r>
            <a:r>
              <a:t/>
            </a:r>
            <a:br/>
            <a:r>
              <a:rPr lang="en-US" sz="1700" b="0" i="0">
                <a:solidFill>
                  <a:srgbClr val="23282D"/>
                </a:solidFill>
                <a:latin typeface="Arial"/>
              </a:rPr>
              <a:t>Need to take corrective actions.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500" b="1" i="0">
                <a:solidFill>
                  <a:srgbClr val="1B304E"/>
                </a:solidFill>
                <a:latin typeface="Arial"/>
              </a:rPr>
              <a:t>Final Summary</a:t>
            </a:r>
          </a:p>
        </p:txBody>
      </p:sp>
      <p:graphicFrame>
        <p:nvGraphicFramePr>
          <p:cNvPr id="3" name="Summary table"/>
          <p:cNvGraphicFramePr>
            <a:graphicFrameLocks noGrp="1"/>
          </p:cNvGraphicFramePr>
          <p:nvPr/>
        </p:nvGraphicFramePr>
        <p:xfrm>
          <a:off x="685800" y="1371600"/>
          <a:ext cx="10134600" cy="142875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533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3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3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33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sz="1100" b="1" i="0">
                          <a:solidFill>
                            <a:srgbClr val="FFFFFF"/>
                          </a:solidFill>
                          <a:latin typeface="Arial"/>
                        </a:rPr>
                        <a:t>Load Case</a:t>
                      </a:r>
                    </a:p>
                  </a:txBody>
                  <a:tcPr marT="5715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0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i="0">
                          <a:solidFill>
                            <a:srgbClr val="FFFFFF"/>
                          </a:solidFill>
                          <a:latin typeface="Arial"/>
                        </a:rPr>
                        <a:t>Max. Deformation</a:t>
                      </a:r>
                    </a:p>
                  </a:txBody>
                  <a:tcPr marT="5715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0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i="0">
                          <a:solidFill>
                            <a:srgbClr val="FFFFFF"/>
                          </a:solidFill>
                          <a:latin typeface="Arial"/>
                        </a:rPr>
                        <a:t>Max. Von-Mises Stress</a:t>
                      </a:r>
                    </a:p>
                  </a:txBody>
                  <a:tcPr marT="5715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0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i="0">
                          <a:solidFill>
                            <a:srgbClr val="FFFFFF"/>
                          </a:solidFill>
                          <a:latin typeface="Arial"/>
                        </a:rPr>
                        <a:t>Allowable Stress</a:t>
                      </a:r>
                    </a:p>
                  </a:txBody>
                  <a:tcPr marT="5715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506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>
                          <a:solidFill>
                            <a:srgbClr val="595959"/>
                          </a:solidFill>
                          <a:latin typeface="Arial"/>
                        </a:rPr>
                        <a:t>Case – Pressure Only</a:t>
                      </a:r>
                    </a:p>
                  </a:txBody>
                  <a:tcPr marT="5715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0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>
                          <a:solidFill>
                            <a:srgbClr val="595959"/>
                          </a:solidFill>
                          <a:latin typeface="Arial"/>
                        </a:rPr>
                        <a:t>0.085 mm</a:t>
                      </a:r>
                    </a:p>
                  </a:txBody>
                  <a:tcPr marT="5715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0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>
                          <a:solidFill>
                            <a:srgbClr val="595959"/>
                          </a:solidFill>
                          <a:latin typeface="Arial"/>
                        </a:rPr>
                        <a:t>74.2 MPa</a:t>
                      </a:r>
                    </a:p>
                  </a:txBody>
                  <a:tcPr marT="5715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0D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>
                          <a:solidFill>
                            <a:srgbClr val="595959"/>
                          </a:solidFill>
                          <a:latin typeface="Arial"/>
                        </a:rPr>
                        <a:t>292 MPa</a:t>
                      </a:r>
                    </a:p>
                  </a:txBody>
                  <a:tcPr marT="5715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0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>
                          <a:solidFill>
                            <a:srgbClr val="595959"/>
                          </a:solidFill>
                          <a:latin typeface="Arial"/>
                        </a:rPr>
                        <a:t>Case – Pressure + Moment</a:t>
                      </a:r>
                    </a:p>
                  </a:txBody>
                  <a:tcPr marT="5715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>
                          <a:solidFill>
                            <a:srgbClr val="595959"/>
                          </a:solidFill>
                          <a:latin typeface="Arial"/>
                        </a:rPr>
                        <a:t>2.42 mm</a:t>
                      </a:r>
                    </a:p>
                  </a:txBody>
                  <a:tcPr marT="5715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>
                          <a:solidFill>
                            <a:srgbClr val="595959"/>
                          </a:solidFill>
                          <a:latin typeface="Arial"/>
                        </a:rPr>
                        <a:t>Exceeding Limit</a:t>
                      </a:r>
                    </a:p>
                  </a:txBody>
                  <a:tcPr marT="5715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0" i="0">
                          <a:solidFill>
                            <a:srgbClr val="595959"/>
                          </a:solidFill>
                          <a:latin typeface="Arial"/>
                        </a:rPr>
                        <a:t>292 MPa</a:t>
                      </a:r>
                    </a:p>
                  </a:txBody>
                  <a:tcPr marT="5715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B304E"/>
      </a:dk2>
      <a:lt2>
        <a:srgbClr val="EEECE1"/>
      </a:lt2>
      <a:accent1>
        <a:srgbClr val="2A6FA6"/>
      </a:accent1>
      <a:accent2>
        <a:srgbClr val="1B304E"/>
      </a:accent2>
      <a:accent3>
        <a:srgbClr val="03506C"/>
      </a:accent3>
      <a:accent4>
        <a:srgbClr val="5F6973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236</Words>
  <Application>Microsoft Office PowerPoint</Application>
  <PresentationFormat>Widescreen</PresentationFormat>
  <Paragraphs>78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Static Structural Analysis Of MLD Blade</vt:lpstr>
      <vt:lpstr>1. Material Properties</vt:lpstr>
      <vt:lpstr>2. Blade Geometry</vt:lpstr>
      <vt:lpstr>3. Blade Mesh</vt:lpstr>
      <vt:lpstr>Case 1: Pressure Only (Self Weight + Pressure)</vt:lpstr>
      <vt:lpstr>Case 1: Results</vt:lpstr>
      <vt:lpstr>Case 1: Observation &amp; Summary</vt:lpstr>
      <vt:lpstr>Case 2: Pressure + Moment (Self Weight + Pressure + Moment)</vt:lpstr>
      <vt:lpstr>Case 2: Results</vt:lpstr>
      <vt:lpstr>Case 2: Observation &amp; Summary</vt:lpstr>
      <vt:lpstr>Final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Static Structural Analysis Of MLD Blade</dc:title>
  <dc:subject>FEA report MWI/FEA/ACK-6203/01</dc:subject>
  <dc:creator>Mech Well</dc:creator>
  <cp:keywords/>
  <dc:description>generated using python-pptx</dc:description>
  <cp:lastModifiedBy>Yash Jagtap</cp:lastModifiedBy>
  <cp:revision>2</cp:revision>
  <dcterms:created xsi:type="dcterms:W3CDTF">2013-01-27T09:14:16Z</dcterms:created>
  <dcterms:modified xsi:type="dcterms:W3CDTF">2026-10-01T06:32:09Z</dcterms:modified>
  <cp:category/>
</cp:coreProperties>
</file>